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0" y="0"/>
            <a:ext cx="3504895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Arial"/>
              </a:defRPr>
            </a:pPr>
            <a:r>
              <a:t>🌱 ACADEMIC PROJECT DEFENSE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Arial"/>
              </a:defRPr>
            </a:pPr>
            <a:r>
              <a:t>Plant Doctor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10B981"/>
                </a:solidFill>
                <a:latin typeface="Arial"/>
              </a:defRPr>
            </a:pPr>
            <a:r>
              <a:t>Pakistani Kisanon Ka AI Doctor</a:t>
            </a:r>
          </a:p>
          <a:p>
            <a:pPr algn="l">
              <a:defRPr sz="1400" b="0">
                <a:solidFill>
                  <a:srgbClr val="F0FDF4"/>
                </a:solidFill>
                <a:latin typeface="Arial"/>
              </a:defRPr>
            </a:pPr>
            <a:r>
              <a:t>AI-Powered targeted leaf disease diagnostics and expert advice ecosystem.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0B981"/>
                </a:solidFill>
                <a:latin typeface="Arial"/>
              </a:defRPr>
            </a:pPr>
            <a:r>
              <a:t>PREPARED BY:</a:t>
            </a:r>
          </a:p>
          <a:p>
            <a:pPr algn="l">
              <a:spcAft>
                <a:spcPts val="8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Saqlain Khan &amp; Raheel Chishti</a:t>
            </a:r>
          </a:p>
          <a:p>
            <a:pPr algn="l">
              <a:defRPr sz="1100" b="0">
                <a:solidFill>
                  <a:srgbClr val="F0FDF4"/>
                </a:solidFill>
                <a:latin typeface="Arial"/>
              </a:defRPr>
            </a:pPr>
            <a:r>
              <a:t>PROJECT SCOPE: Potato, Tomato, Pepper, Corn Diseases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Arial"/>
              </a:defRPr>
            </a:pPr>
            <a:r>
              <a:t>PLANT DOCTOR AI 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  <a:latin typeface="Arial"/>
              </a:defRPr>
            </a:pPr>
            <a:r>
              <a:t>The Challenge in Modern Agriculture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480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000" b="1">
                <a:solidFill>
                  <a:srgbClr val="064E3B"/>
                </a:solidFill>
                <a:latin typeface="Arial"/>
              </a:defRPr>
            </a:pPr>
            <a:r>
              <a:t>Traditional Challenges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❌ Diagnostic Delays</a:t>
            </a:r>
          </a:p>
          <a:p>
            <a:pPr algn="l">
              <a:spcAft>
                <a:spcPts val="1400"/>
              </a:spcAft>
              <a:defRPr sz="1200" b="0">
                <a:solidFill>
                  <a:srgbClr val="64748B"/>
                </a:solidFill>
                <a:latin typeface="Arial"/>
              </a:defRPr>
            </a:pPr>
            <a:r>
              <a:t>Manual plant leaf inspection is error-prone. By the time visual symptoms are identified by human eyes, infections are often deep-rooted.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❌ Expert Accessibility Shortage</a:t>
            </a:r>
          </a:p>
          <a:p>
            <a:pPr algn="l">
              <a:spcAft>
                <a:spcPts val="1400"/>
              </a:spcAft>
              <a:defRPr sz="1200" b="0">
                <a:solidFill>
                  <a:srgbClr val="64748B"/>
                </a:solidFill>
                <a:latin typeface="Arial"/>
              </a:defRPr>
            </a:pPr>
            <a:r>
              <a:t>Rural areas in Punjab suffer from a severe shortage of localized agricultural extension experts to diagnose crop failures.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❌ Information &amp; Language Barriers</a:t>
            </a:r>
          </a:p>
          <a:p>
            <a:pPr algn="l">
              <a:defRPr sz="1200" b="0">
                <a:solidFill>
                  <a:srgbClr val="64748B"/>
                </a:solidFill>
                <a:latin typeface="Arial"/>
              </a:defRPr>
            </a:pPr>
            <a:r>
              <a:t>Most crop care applications are built in English with scientific jargon. Lack of Urdu/Roman Urdu localized guides limits farmer adoption.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30975" y="1645920"/>
            <a:ext cx="5029200" cy="438912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05295" y="1828800"/>
            <a:ext cx="4480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Socio-Economic Impact</a:t>
            </a:r>
          </a:p>
          <a:p>
            <a:pPr algn="l">
              <a:spcAft>
                <a:spcPts val="600"/>
              </a:spcAft>
              <a:defRPr sz="3600" b="1">
                <a:solidFill>
                  <a:srgbClr val="10B981"/>
                </a:solidFill>
                <a:latin typeface="Arial"/>
              </a:defRPr>
            </a:pPr>
            <a:r>
              <a:t>35% - 40%</a:t>
            </a:r>
          </a:p>
          <a:p>
            <a:pPr algn="l">
              <a:spcAft>
                <a:spcPts val="2200"/>
              </a:spcAft>
              <a:defRPr sz="1300" b="0">
                <a:solidFill>
                  <a:srgbClr val="F0FDF4"/>
                </a:solidFill>
                <a:latin typeface="Arial"/>
              </a:defRPr>
            </a:pPr>
            <a:r>
              <a:t>Average yearly crop yield lost due to crop diseases and late pesticide application in Pakistan.</a:t>
            </a:r>
          </a:p>
          <a:p>
            <a:pPr algn="l">
              <a:spcAft>
                <a:spcPts val="6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Food Security Threat</a:t>
            </a:r>
          </a:p>
          <a:p>
            <a:pPr algn="l">
              <a:defRPr sz="1200" b="0">
                <a:solidFill>
                  <a:srgbClr val="F0FDF4"/>
                </a:solidFill>
                <a:latin typeface="Arial"/>
              </a:defRPr>
            </a:pPr>
            <a:r>
              <a:t>Early failure detection directly impacts cash crops (Potato, Corn) and vegetables (Tomato, Pepper) which are primary drivers of rural household incomes in Punjab.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Arial"/>
              </a:defRPr>
            </a:pPr>
            <a:r>
              <a:t>PLANT DOCTOR AI 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  <a:latin typeface="Arial"/>
              </a:defRPr>
            </a:pPr>
            <a:r>
              <a:t>Plant Doctor AI — Empowering Farmers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332073" cy="438912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874873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🔬 Targeted AI Scans</a:t>
            </a:r>
          </a:p>
          <a:p>
            <a:pPr algn="l">
              <a:spcAft>
                <a:spcPts val="2000"/>
              </a:spcAft>
              <a:defRPr sz="1300" b="0">
                <a:solidFill>
                  <a:srgbClr val="F0FDF4"/>
                </a:solidFill>
                <a:latin typeface="Arial"/>
              </a:defRPr>
            </a:pPr>
            <a:r>
              <a:t>No generic uploads! Targeted leaf scanners designed for Potato, Tomato, Pepper, and Corn. Custom ML feature extraction maps unique crop spots in &lt;0.15 seconds.</a:t>
            </a:r>
          </a:p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✅ Complete Urdu integration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429353" y="1645920"/>
            <a:ext cx="3332073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57953" y="1920240"/>
            <a:ext cx="2874873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1800" b="1">
                <a:solidFill>
                  <a:srgbClr val="1E293B"/>
                </a:solidFill>
                <a:latin typeface="Arial"/>
              </a:defRPr>
            </a:pPr>
            <a:r>
              <a:t>💬 Expert Ecosystem</a:t>
            </a:r>
          </a:p>
          <a:p>
            <a:pPr algn="l">
              <a:spcAft>
                <a:spcPts val="2000"/>
              </a:spcAft>
              <a:defRPr sz="1300" b="0">
                <a:solidFill>
                  <a:srgbClr val="64748B"/>
                </a:solidFill>
                <a:latin typeface="Arial"/>
              </a:defRPr>
            </a:pPr>
            <a:r>
              <a:t>Bridges the expert-farmer gap. Farmers can request consultations, and agronomists review history from a dedicated dashboard to deliver precise custom advice.</a:t>
            </a:r>
          </a:p>
          <a:p>
            <a:pPr algn="l">
              <a:defRPr sz="1100" b="1">
                <a:solidFill>
                  <a:srgbClr val="1E293B"/>
                </a:solidFill>
                <a:latin typeface="Arial"/>
              </a:defRPr>
            </a:pPr>
            <a:r>
              <a:t>✅ Complete Urdu integration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127187" y="1645920"/>
            <a:ext cx="3332073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5787" y="1920240"/>
            <a:ext cx="2874873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1800" b="1">
                <a:solidFill>
                  <a:srgbClr val="1E293B"/>
                </a:solidFill>
                <a:latin typeface="Arial"/>
              </a:defRPr>
            </a:pPr>
            <a:r>
              <a:t>🌧️ Weather context</a:t>
            </a:r>
          </a:p>
          <a:p>
            <a:pPr algn="l">
              <a:spcAft>
                <a:spcPts val="2000"/>
              </a:spcAft>
              <a:defRPr sz="1300" b="0">
                <a:solidFill>
                  <a:srgbClr val="64748B"/>
                </a:solidFill>
                <a:latin typeface="Arial"/>
              </a:defRPr>
            </a:pPr>
            <a:r>
              <a:t>Real-time live weather feeds. Assesses temperature, humidity, and wind velocity to calculate active spray risks (e.g. alert if wind &gt;20km/h renders chemical sprays ineffective).</a:t>
            </a:r>
          </a:p>
          <a:p>
            <a:pPr algn="l">
              <a:defRPr sz="1100" b="1">
                <a:solidFill>
                  <a:srgbClr val="1E293B"/>
                </a:solidFill>
                <a:latin typeface="Arial"/>
              </a:defRPr>
            </a:pPr>
            <a:r>
              <a:t>✅ Complete Urdu integration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Arial"/>
              </a:defRPr>
            </a:pPr>
            <a:r>
              <a:t>PLANT DOCTOR AI 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  <a:latin typeface="Arial"/>
              </a:defRPr>
            </a:pPr>
            <a:r>
              <a:t>Client-Server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480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64E3B"/>
                </a:solidFill>
                <a:latin typeface="Arial"/>
              </a:defRPr>
            </a:pPr>
            <a:r>
              <a:t>Frontend Client (Streamlit)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Highly Intuitive Interface</a:t>
            </a:r>
          </a:p>
          <a:p>
            <a:pPr algn="l">
              <a:spcAft>
                <a:spcPts val="1200"/>
              </a:spcAft>
              <a:defRPr sz="1200" b="0">
                <a:solidFill>
                  <a:srgbClr val="64748B"/>
                </a:solidFill>
                <a:latin typeface="Arial"/>
              </a:defRPr>
            </a:pPr>
            <a:r>
              <a:t>Built on Streamlit Cloud with custom injected HSL-tailored vanilla CSS for premium layout formatting.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Specialized Input Scanners</a:t>
            </a:r>
          </a:p>
          <a:p>
            <a:pPr algn="l">
              <a:spcAft>
                <a:spcPts val="1200"/>
              </a:spcAft>
              <a:defRPr sz="1200" b="0">
                <a:solidFill>
                  <a:srgbClr val="64748B"/>
                </a:solidFill>
                <a:latin typeface="Arial"/>
              </a:defRPr>
            </a:pPr>
            <a:r>
              <a:t>Dedicated camera/upload inputs for individual crops. Removes confusing auto-detect layers for direct, user-controlled diagnostic execution.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Hybrid Local-Cloud Widgets</a:t>
            </a:r>
          </a:p>
          <a:p>
            <a:pPr algn="l">
              <a:defRPr sz="1200" b="0">
                <a:solidFill>
                  <a:srgbClr val="64748B"/>
                </a:solidFill>
                <a:latin typeface="Arial"/>
              </a:defRPr>
            </a:pPr>
            <a:r>
              <a:t>Live OpenWeather API rendering with responsive dashboard metrics for farmer scans.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30975" y="1645920"/>
            <a:ext cx="5029200" cy="438912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05295" y="1828800"/>
            <a:ext cx="4480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Backend Core (FastAPI)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• Fast Asynchronous APIs</a:t>
            </a:r>
          </a:p>
          <a:p>
            <a:pPr algn="l">
              <a:spcAft>
                <a:spcPts val="1200"/>
              </a:spcAft>
              <a:defRPr sz="1200" b="0">
                <a:solidFill>
                  <a:srgbClr val="F0FDF4"/>
                </a:solidFill>
                <a:latin typeface="Arial"/>
              </a:defRPr>
            </a:pPr>
            <a:r>
              <a:t>Asynchronous python execution utilizing FastAPI core with CORS middleware and rate limiting.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• Security &amp; Authentication Engine</a:t>
            </a:r>
          </a:p>
          <a:p>
            <a:pPr algn="l">
              <a:spcAft>
                <a:spcPts val="1200"/>
              </a:spcAft>
              <a:defRPr sz="1200" b="0">
                <a:solidFill>
                  <a:srgbClr val="F0FDF4"/>
                </a:solidFill>
                <a:latin typeface="Arial"/>
              </a:defRPr>
            </a:pPr>
            <a:r>
              <a:t>JWT authorization tokens for robust session management. Secure bcrypt hashing logic.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• Agile Database &amp; ML Middleware</a:t>
            </a:r>
          </a:p>
          <a:p>
            <a:pPr algn="l">
              <a:defRPr sz="1200" b="0">
                <a:solidFill>
                  <a:srgbClr val="F0FDF4"/>
                </a:solidFill>
                <a:latin typeface="Arial"/>
              </a:defRPr>
            </a:pPr>
            <a:r>
              <a:t>Interfacing with Cloud MySQL database (Railway). Hosts pickled multi-crop ML pipelines.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Arial"/>
              </a:defRPr>
            </a:pPr>
            <a:r>
              <a:t>PLANT DOCTOR AI 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  <a:latin typeface="Arial"/>
              </a:defRPr>
            </a:pPr>
            <a:r>
              <a:t>Our Custom ML &amp; Feature Engineering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9436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64E3B"/>
                </a:solidFill>
                <a:latin typeface="Arial"/>
              </a:defRPr>
            </a:pPr>
            <a:r>
              <a:t>Classical Computer Vision Feature Engineering</a:t>
            </a:r>
          </a:p>
          <a:p>
            <a:pPr algn="l">
              <a:spcAft>
                <a:spcPts val="1400"/>
              </a:spcAft>
              <a:defRPr sz="1200" b="0">
                <a:solidFill>
                  <a:srgbClr val="64748B"/>
                </a:solidFill>
                <a:latin typeface="Arial"/>
              </a:defRPr>
            </a:pPr>
            <a:r>
              <a:t>Rather than utilizing heavy neural networks, we designed an ultra-efficient classical computer vision pipeline that runs instantly on edge web nodes:</a:t>
            </a:r>
          </a:p>
          <a:p>
            <a:pPr algn="l">
              <a:spcAft>
                <a:spcPts val="200"/>
              </a:spcAft>
              <a:defRPr sz="1300" b="1">
                <a:solidFill>
                  <a:srgbClr val="1E293B"/>
                </a:solidFill>
                <a:latin typeface="Arial"/>
              </a:defRPr>
            </a:pPr>
            <a:r>
              <a:t>🎨 Color Representation</a:t>
            </a:r>
          </a:p>
          <a:p>
            <a:pPr algn="l">
              <a:spcAft>
                <a:spcPts val="100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Maps pixel variations across BGR &amp; HSV color models, capturing leaf pigmentation changes (chlorosis).</a:t>
            </a:r>
          </a:p>
          <a:p>
            <a:pPr algn="l">
              <a:spcAft>
                <a:spcPts val="200"/>
              </a:spcAft>
              <a:defRPr sz="1300" b="1">
                <a:solidFill>
                  <a:srgbClr val="1E293B"/>
                </a:solidFill>
                <a:latin typeface="Arial"/>
              </a:defRPr>
            </a:pPr>
            <a:r>
              <a:t>🌲 Texture Metrics (LBP &amp; GLCM)</a:t>
            </a:r>
          </a:p>
          <a:p>
            <a:pPr algn="l">
              <a:spcAft>
                <a:spcPts val="100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Local Binary Patterns capture rough spot patches; Gray-Level Co-occurrence Matrices evaluate pixel contrast.</a:t>
            </a:r>
          </a:p>
          <a:p>
            <a:pPr algn="l">
              <a:spcAft>
                <a:spcPts val="200"/>
              </a:spcAft>
              <a:defRPr sz="1300" b="1">
                <a:solidFill>
                  <a:srgbClr val="1E293B"/>
                </a:solidFill>
                <a:latin typeface="Arial"/>
              </a:defRPr>
            </a:pPr>
            <a:r>
              <a:t>📐 Edge &amp; Boundary Maps (HOG &amp; Gabor)</a:t>
            </a:r>
          </a:p>
          <a:p>
            <a:pPr algn="l">
              <a:spcAft>
                <a:spcPts val="100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Histogram of Oriented Gradients (HOG) maps spatial layouts; multi-scale Gabor filters isolate spot edges.</a:t>
            </a:r>
          </a:p>
          <a:p>
            <a:pPr algn="l">
              <a:spcAft>
                <a:spcPts val="200"/>
              </a:spcAft>
              <a:defRPr sz="1300" b="1">
                <a:solidFill>
                  <a:srgbClr val="1E293B"/>
                </a:solidFill>
                <a:latin typeface="Arial"/>
              </a:defRPr>
            </a:pPr>
            <a:r>
              <a:t>🔍 ORB Texture Descriptors</a:t>
            </a:r>
          </a:p>
          <a:p>
            <a:pPr algn="l">
              <a:defRPr sz="1100" b="0">
                <a:solidFill>
                  <a:srgbClr val="64748B"/>
                </a:solidFill>
                <a:latin typeface="Arial"/>
              </a:defRPr>
            </a:pPr>
            <a:r>
              <a:t>Extracts robust spatial keypoints to capture complex localized disease textures.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645920"/>
            <a:ext cx="4602175" cy="438912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86600" y="1828800"/>
            <a:ext cx="4114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Robust Classification Models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Model Strategy</a:t>
            </a:r>
          </a:p>
          <a:p>
            <a:pPr algn="l">
              <a:spcAft>
                <a:spcPts val="1600"/>
              </a:spcAft>
              <a:defRPr sz="1200" b="0">
                <a:solidFill>
                  <a:srgbClr val="F0FDF4"/>
                </a:solidFill>
                <a:latin typeface="Arial"/>
              </a:defRPr>
            </a:pPr>
            <a:r>
              <a:t>Supervised ensemble algorithms utilizing custom pipelines tailored to individual crop structures.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Dimensionality Optimization</a:t>
            </a:r>
          </a:p>
          <a:p>
            <a:pPr algn="l">
              <a:spcAft>
                <a:spcPts val="1600"/>
              </a:spcAft>
              <a:defRPr sz="1200" b="0">
                <a:solidFill>
                  <a:srgbClr val="F0FDF4"/>
                </a:solidFill>
                <a:latin typeface="Arial"/>
              </a:defRPr>
            </a:pPr>
            <a:r>
              <a:t>Applies VarianceThreshold (to drop noise), StandardScaler, PCA, and SelectKBest (ANOVA f-test) to isolate high-impact features.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Generative Advice Reports</a:t>
            </a:r>
          </a:p>
          <a:p>
            <a:pPr algn="l">
              <a:defRPr sz="1200" b="0">
                <a:solidFill>
                  <a:srgbClr val="F0FDF4"/>
                </a:solidFill>
                <a:latin typeface="Arial"/>
              </a:defRPr>
            </a:pPr>
            <a:r>
              <a:t>Model predictions are passed to Google Gemini-1.5-Flash to produce contextual Urdu instructions with organic, chemical, and physical steps.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Arial"/>
              </a:defRPr>
            </a:pPr>
            <a:r>
              <a:t>PLANT DOCTOR AI 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  <a:latin typeface="Arial"/>
              </a:defRPr>
            </a:pPr>
            <a:r>
              <a:t>Supported Crops &amp; Leaf Diseases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407615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828800"/>
            <a:ext cx="2078431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600" b="0">
                <a:solidFill>
                  <a:srgbClr val="1E293B"/>
                </a:solidFill>
                <a:latin typeface="Arial"/>
              </a:defRPr>
            </a:pPr>
            <a:r>
              <a:t>🥔</a:t>
            </a:r>
          </a:p>
          <a:p>
            <a:pPr algn="l">
              <a:spcAft>
                <a:spcPts val="400"/>
              </a:spcAft>
              <a:defRPr sz="1800" b="1">
                <a:solidFill>
                  <a:srgbClr val="064E3B"/>
                </a:solidFill>
                <a:latin typeface="Arial"/>
              </a:defRPr>
            </a:pPr>
            <a:r>
              <a:t>Potato</a:t>
            </a:r>
          </a:p>
          <a:p>
            <a:pPr algn="l">
              <a:spcAft>
                <a:spcPts val="1000"/>
              </a:spcAft>
              <a:defRPr sz="1200" b="1">
                <a:solidFill>
                  <a:srgbClr val="059669"/>
                </a:solidFill>
                <a:latin typeface="Arial"/>
              </a:defRPr>
            </a:pPr>
            <a:r>
              <a:t>99.2% Acc</a:t>
            </a:r>
          </a:p>
          <a:p>
            <a:pPr algn="l">
              <a:spcAft>
                <a:spcPts val="120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High accuracy classifier utilizing engineered features.</a:t>
            </a:r>
          </a:p>
          <a:p>
            <a:pPr algn="l">
              <a:spcAft>
                <a:spcPts val="400"/>
              </a:spcAft>
              <a:defRPr sz="900" b="1">
                <a:solidFill>
                  <a:srgbClr val="1E293B"/>
                </a:solidFill>
                <a:latin typeface="Arial"/>
              </a:defRPr>
            </a:pPr>
            <a:r>
              <a:t>CLASSIFIED CLASSES:</a:t>
            </a:r>
          </a:p>
          <a:p>
            <a:pPr algn="l">
              <a:defRPr sz="1000" b="0">
                <a:solidFill>
                  <a:srgbClr val="1E293B"/>
                </a:solidFill>
                <a:latin typeface="Arial"/>
              </a:defRPr>
            </a:pPr>
            <a:r>
              <a:t>• Early Blight</a:t>
            </a:r>
          </a:p>
          <a:p>
            <a:pPr algn="l">
              <a:defRPr sz="1000" b="0">
                <a:solidFill>
                  <a:srgbClr val="1E293B"/>
                </a:solidFill>
                <a:latin typeface="Arial"/>
              </a:defRPr>
            </a:pPr>
            <a:r>
              <a:t>• Late Blight</a:t>
            </a:r>
          </a:p>
          <a:p>
            <a:pPr algn="l">
              <a:defRPr sz="1000" b="0">
                <a:solidFill>
                  <a:srgbClr val="1E293B"/>
                </a:solidFill>
                <a:latin typeface="Arial"/>
              </a:defRPr>
            </a:pPr>
            <a:r>
              <a:t>• Healthy</a:t>
            </a:r>
          </a:p>
        </p:txBody>
      </p:sp>
      <p:sp>
        <p:nvSpPr>
          <p:cNvPr id="7" name="Rectangle 6"/>
          <p:cNvSpPr/>
          <p:nvPr/>
        </p:nvSpPr>
        <p:spPr>
          <a:xfrm>
            <a:off x="3504895" y="1645920"/>
            <a:ext cx="2407615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69487" y="1828800"/>
            <a:ext cx="2078431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600" b="0">
                <a:solidFill>
                  <a:srgbClr val="1E293B"/>
                </a:solidFill>
                <a:latin typeface="Arial"/>
              </a:defRPr>
            </a:pPr>
            <a:r>
              <a:t>🍅</a:t>
            </a:r>
          </a:p>
          <a:p>
            <a:pPr algn="l">
              <a:spcAft>
                <a:spcPts val="400"/>
              </a:spcAft>
              <a:defRPr sz="1800" b="1">
                <a:solidFill>
                  <a:srgbClr val="064E3B"/>
                </a:solidFill>
                <a:latin typeface="Arial"/>
              </a:defRPr>
            </a:pPr>
            <a:r>
              <a:t>Tomato</a:t>
            </a:r>
          </a:p>
          <a:p>
            <a:pPr algn="l">
              <a:spcAft>
                <a:spcPts val="1000"/>
              </a:spcAft>
              <a:defRPr sz="1200" b="1">
                <a:solidFill>
                  <a:srgbClr val="059669"/>
                </a:solidFill>
                <a:latin typeface="Arial"/>
              </a:defRPr>
            </a:pPr>
            <a:r>
              <a:t>95.4% Acc</a:t>
            </a:r>
          </a:p>
          <a:p>
            <a:pPr algn="l">
              <a:spcAft>
                <a:spcPts val="120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Covers a diverse array of viral &amp; bacterial spots.</a:t>
            </a:r>
          </a:p>
          <a:p>
            <a:pPr algn="l">
              <a:spcAft>
                <a:spcPts val="400"/>
              </a:spcAft>
              <a:defRPr sz="900" b="1">
                <a:solidFill>
                  <a:srgbClr val="1E293B"/>
                </a:solidFill>
                <a:latin typeface="Arial"/>
              </a:defRPr>
            </a:pPr>
            <a:r>
              <a:t>CLASSIFIED CLASSES:</a:t>
            </a:r>
          </a:p>
          <a:p>
            <a:pPr algn="l">
              <a:defRPr sz="1000" b="0">
                <a:solidFill>
                  <a:srgbClr val="1E293B"/>
                </a:solidFill>
                <a:latin typeface="Arial"/>
              </a:defRPr>
            </a:pPr>
            <a:r>
              <a:t>• Early Blight</a:t>
            </a:r>
          </a:p>
          <a:p>
            <a:pPr algn="l">
              <a:defRPr sz="1000" b="0">
                <a:solidFill>
                  <a:srgbClr val="1E293B"/>
                </a:solidFill>
                <a:latin typeface="Arial"/>
              </a:defRPr>
            </a:pPr>
            <a:r>
              <a:t>• Late Blight</a:t>
            </a:r>
          </a:p>
          <a:p>
            <a:pPr algn="l">
              <a:defRPr sz="1000" b="0">
                <a:solidFill>
                  <a:srgbClr val="1E293B"/>
                </a:solidFill>
                <a:latin typeface="Arial"/>
              </a:defRPr>
            </a:pPr>
            <a:r>
              <a:t>• Leaf Mold</a:t>
            </a:r>
          </a:p>
          <a:p>
            <a:pPr algn="l">
              <a:defRPr sz="1000" b="0">
                <a:solidFill>
                  <a:srgbClr val="1E293B"/>
                </a:solidFill>
                <a:latin typeface="Arial"/>
              </a:defRPr>
            </a:pPr>
            <a:r>
              <a:t>• Mosaic Virus</a:t>
            </a:r>
          </a:p>
          <a:p>
            <a:pPr algn="l">
              <a:defRPr sz="1000" b="0">
                <a:solidFill>
                  <a:srgbClr val="1E293B"/>
                </a:solidFill>
                <a:latin typeface="Arial"/>
              </a:defRPr>
            </a:pPr>
            <a:r>
              <a:t>• Target Spot</a:t>
            </a:r>
          </a:p>
          <a:p>
            <a:pPr algn="l">
              <a:defRPr sz="1000" b="0">
                <a:solidFill>
                  <a:srgbClr val="1E293B"/>
                </a:solidFill>
                <a:latin typeface="Arial"/>
              </a:defRPr>
            </a:pPr>
            <a:r>
              <a:t>• Bacterial Spot</a:t>
            </a:r>
          </a:p>
          <a:p>
            <a:pPr algn="l">
              <a:defRPr sz="1000" b="0">
                <a:solidFill>
                  <a:srgbClr val="1E293B"/>
                </a:solidFill>
                <a:latin typeface="Arial"/>
              </a:defRPr>
            </a:pPr>
            <a:r>
              <a:t>• Spider Mites</a:t>
            </a:r>
          </a:p>
          <a:p>
            <a:pPr algn="l">
              <a:defRPr sz="1000" b="0">
                <a:solidFill>
                  <a:srgbClr val="1E293B"/>
                </a:solidFill>
                <a:latin typeface="Arial"/>
              </a:defRPr>
            </a:pPr>
            <a:r>
              <a:t>• Septoria Spot</a:t>
            </a:r>
          </a:p>
          <a:p>
            <a:pPr algn="l">
              <a:defRPr sz="1000" b="0">
                <a:solidFill>
                  <a:srgbClr val="1E293B"/>
                </a:solidFill>
                <a:latin typeface="Arial"/>
              </a:defRPr>
            </a:pPr>
            <a:r>
              <a:t>• Healthy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8270" y="1645920"/>
            <a:ext cx="2407615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2862" y="1828800"/>
            <a:ext cx="2078431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600" b="0">
                <a:solidFill>
                  <a:srgbClr val="1E293B"/>
                </a:solidFill>
                <a:latin typeface="Arial"/>
              </a:defRPr>
            </a:pPr>
            <a:r>
              <a:t>🫑</a:t>
            </a:r>
          </a:p>
          <a:p>
            <a:pPr algn="l">
              <a:spcAft>
                <a:spcPts val="400"/>
              </a:spcAft>
              <a:defRPr sz="1800" b="1">
                <a:solidFill>
                  <a:srgbClr val="064E3B"/>
                </a:solidFill>
                <a:latin typeface="Arial"/>
              </a:defRPr>
            </a:pPr>
            <a:r>
              <a:t>Pepper</a:t>
            </a:r>
          </a:p>
          <a:p>
            <a:pPr algn="l">
              <a:spcAft>
                <a:spcPts val="1000"/>
              </a:spcAft>
              <a:defRPr sz="1200" b="1">
                <a:solidFill>
                  <a:srgbClr val="059669"/>
                </a:solidFill>
                <a:latin typeface="Arial"/>
              </a:defRPr>
            </a:pPr>
            <a:r>
              <a:t>99.1% Acc</a:t>
            </a:r>
          </a:p>
          <a:p>
            <a:pPr algn="l">
              <a:spcAft>
                <a:spcPts val="120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Robust classification mapping dark bacterial lesions.</a:t>
            </a:r>
          </a:p>
          <a:p>
            <a:pPr algn="l">
              <a:spcAft>
                <a:spcPts val="400"/>
              </a:spcAft>
              <a:defRPr sz="900" b="1">
                <a:solidFill>
                  <a:srgbClr val="1E293B"/>
                </a:solidFill>
                <a:latin typeface="Arial"/>
              </a:defRPr>
            </a:pPr>
            <a:r>
              <a:t>CLASSIFIED CLASSES:</a:t>
            </a:r>
          </a:p>
          <a:p>
            <a:pPr algn="l">
              <a:defRPr sz="1000" b="0">
                <a:solidFill>
                  <a:srgbClr val="1E293B"/>
                </a:solidFill>
                <a:latin typeface="Arial"/>
              </a:defRPr>
            </a:pPr>
            <a:r>
              <a:t>• Bacterial Spot</a:t>
            </a:r>
          </a:p>
          <a:p>
            <a:pPr algn="l">
              <a:defRPr sz="1000" b="0">
                <a:solidFill>
                  <a:srgbClr val="1E293B"/>
                </a:solidFill>
                <a:latin typeface="Arial"/>
              </a:defRPr>
            </a:pPr>
            <a:r>
              <a:t>• Healthy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1645" y="1645920"/>
            <a:ext cx="2407615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16237" y="1828800"/>
            <a:ext cx="2078431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600" b="0">
                <a:solidFill>
                  <a:srgbClr val="1E293B"/>
                </a:solidFill>
                <a:latin typeface="Arial"/>
              </a:defRPr>
            </a:pPr>
            <a:r>
              <a:t>🌽</a:t>
            </a:r>
          </a:p>
          <a:p>
            <a:pPr algn="l">
              <a:spcAft>
                <a:spcPts val="400"/>
              </a:spcAft>
              <a:defRPr sz="1800" b="1">
                <a:solidFill>
                  <a:srgbClr val="064E3B"/>
                </a:solidFill>
                <a:latin typeface="Arial"/>
              </a:defRPr>
            </a:pPr>
            <a:r>
              <a:t>Corn</a:t>
            </a:r>
          </a:p>
          <a:p>
            <a:pPr algn="l">
              <a:spcAft>
                <a:spcPts val="1000"/>
              </a:spcAft>
              <a:defRPr sz="1200" b="1">
                <a:solidFill>
                  <a:srgbClr val="059669"/>
                </a:solidFill>
                <a:latin typeface="Arial"/>
              </a:defRPr>
            </a:pPr>
            <a:r>
              <a:t>87.2% Acc</a:t>
            </a:r>
          </a:p>
          <a:p>
            <a:pPr algn="l">
              <a:spcAft>
                <a:spcPts val="120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Custom features engineered for long streak structures.</a:t>
            </a:r>
          </a:p>
          <a:p>
            <a:pPr algn="l">
              <a:spcAft>
                <a:spcPts val="400"/>
              </a:spcAft>
              <a:defRPr sz="900" b="1">
                <a:solidFill>
                  <a:srgbClr val="1E293B"/>
                </a:solidFill>
                <a:latin typeface="Arial"/>
              </a:defRPr>
            </a:pPr>
            <a:r>
              <a:t>CLASSIFIED CLASSES:</a:t>
            </a:r>
          </a:p>
          <a:p>
            <a:pPr algn="l">
              <a:defRPr sz="1000" b="0">
                <a:solidFill>
                  <a:srgbClr val="1E293B"/>
                </a:solidFill>
                <a:latin typeface="Arial"/>
              </a:defRPr>
            </a:pPr>
            <a:r>
              <a:t>• Common Rust</a:t>
            </a:r>
          </a:p>
          <a:p>
            <a:pPr algn="l">
              <a:defRPr sz="1000" b="0">
                <a:solidFill>
                  <a:srgbClr val="1E293B"/>
                </a:solidFill>
                <a:latin typeface="Arial"/>
              </a:defRPr>
            </a:pPr>
            <a:r>
              <a:t>• Northern Blight</a:t>
            </a:r>
          </a:p>
          <a:p>
            <a:pPr algn="l">
              <a:defRPr sz="1000" b="0">
                <a:solidFill>
                  <a:srgbClr val="1E293B"/>
                </a:solidFill>
                <a:latin typeface="Arial"/>
              </a:defRPr>
            </a:pPr>
            <a:r>
              <a:t>• Gray Leaf Spot</a:t>
            </a:r>
          </a:p>
          <a:p>
            <a:pPr algn="l">
              <a:defRPr sz="1000" b="0">
                <a:solidFill>
                  <a:srgbClr val="1E293B"/>
                </a:solidFill>
                <a:latin typeface="Arial"/>
              </a:defRPr>
            </a:pPr>
            <a:r>
              <a:t>• Healthy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Arial"/>
              </a:defRPr>
            </a:pPr>
            <a:r>
              <a:t>PLANT DOCTOR AI 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  <a:latin typeface="Arial"/>
              </a:defRPr>
            </a:pPr>
            <a:r>
              <a:t>Key Application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21208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064E3B"/>
                </a:solidFill>
                <a:latin typeface="Arial"/>
              </a:defRPr>
            </a:pPr>
            <a:r>
              <a:t>🔒 Secure JWT User Gateway</a:t>
            </a:r>
          </a:p>
          <a:p>
            <a:pPr algn="l">
              <a:defRPr sz="1100" b="0">
                <a:solidFill>
                  <a:srgbClr val="64748B"/>
                </a:solidFill>
                <a:latin typeface="Arial"/>
              </a:defRPr>
            </a:pPr>
            <a:r>
              <a:t>Complete secure login system with robust password encryption (bcrypt). Ensures data isolation so farmers track only their own crop scan records.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8095" y="1645920"/>
            <a:ext cx="521208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6695" y="187452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064E3B"/>
                </a:solidFill>
                <a:latin typeface="Arial"/>
              </a:defRPr>
            </a:pPr>
            <a:r>
              <a:t>📊 Live History Dashboard</a:t>
            </a:r>
          </a:p>
          <a:p>
            <a:pPr algn="l">
              <a:defRPr sz="1100" b="0">
                <a:solidFill>
                  <a:srgbClr val="64748B"/>
                </a:solidFill>
                <a:latin typeface="Arial"/>
              </a:defRPr>
            </a:pPr>
            <a:r>
              <a:t>Chronological history tracking of farmer scans. Allows farmers to monitor infection spreads over time and review historical treatment advice offline.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840480"/>
            <a:ext cx="521208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06908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064E3B"/>
                </a:solidFill>
                <a:latin typeface="Arial"/>
              </a:defRPr>
            </a:pPr>
            <a:r>
              <a:t>🌧️ Spray Risk Weather Evaluator</a:t>
            </a:r>
          </a:p>
          <a:p>
            <a:pPr algn="l">
              <a:defRPr sz="1100" b="0">
                <a:solidFill>
                  <a:srgbClr val="64748B"/>
                </a:solidFill>
                <a:latin typeface="Arial"/>
              </a:defRPr>
            </a:pPr>
            <a:r>
              <a:t>Uses real-time external meteorology APIs to assess wind speeds and humidity. Computes if chemical pesticide application is safe and effective today.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8095" y="3840480"/>
            <a:ext cx="521208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6695" y="406908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064E3B"/>
                </a:solidFill>
                <a:latin typeface="Arial"/>
              </a:defRPr>
            </a:pPr>
            <a:r>
              <a:t>💬 Agronomist Portal</a:t>
            </a:r>
          </a:p>
          <a:p>
            <a:pPr algn="l">
              <a:defRPr sz="1100" b="0">
                <a:solidFill>
                  <a:srgbClr val="64748B"/>
                </a:solidFill>
                <a:latin typeface="Arial"/>
              </a:defRPr>
            </a:pPr>
            <a:r>
              <a:t>Connects farmers to physical agronomists. Integrates scheduling queues, diagnostic reviews, status flags (pending/resolved) and feedback logs.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Arial"/>
              </a:defRPr>
            </a:pPr>
            <a:r>
              <a:t>PLANT DOCTOR AI 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  <a:latin typeface="Arial"/>
              </a:defRPr>
            </a:pPr>
            <a:r>
              <a:t>Relational Database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407615" cy="438912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828800"/>
            <a:ext cx="2078431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👤 users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F0FDF4"/>
                </a:solidFill>
                <a:latin typeface="Arial"/>
              </a:defRPr>
            </a:pPr>
            <a:r>
              <a:t>• id (INT PK)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F0FDF4"/>
                </a:solidFill>
                <a:latin typeface="Arial"/>
              </a:defRPr>
            </a:pPr>
            <a:r>
              <a:t>• email (VARCHAR)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F0FDF4"/>
                </a:solidFill>
                <a:latin typeface="Arial"/>
              </a:defRPr>
            </a:pPr>
            <a:r>
              <a:t>• password (VARCHAR)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F0FDF4"/>
                </a:solidFill>
                <a:latin typeface="Arial"/>
              </a:defRPr>
            </a:pPr>
            <a:r>
              <a:t>• role (VARCHAR)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F0FDF4"/>
                </a:solidFill>
                <a:latin typeface="Arial"/>
              </a:defRPr>
            </a:pPr>
            <a:r>
              <a:t>• created_at (TIMESTAMP)</a:t>
            </a:r>
          </a:p>
        </p:txBody>
      </p:sp>
      <p:sp>
        <p:nvSpPr>
          <p:cNvPr id="7" name="Rectangle 6"/>
          <p:cNvSpPr/>
          <p:nvPr/>
        </p:nvSpPr>
        <p:spPr>
          <a:xfrm>
            <a:off x="3504895" y="1645920"/>
            <a:ext cx="2407615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69487" y="1828800"/>
            <a:ext cx="2078431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1600" b="1">
                <a:solidFill>
                  <a:srgbClr val="1E293B"/>
                </a:solidFill>
                <a:latin typeface="Arial"/>
              </a:defRPr>
            </a:pPr>
            <a:r>
              <a:t>📸 scans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• id (INT PK)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• user_id (INT FK)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• crop (VARCHAR)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• disease (VARCHAR)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• confidence (FLOAT)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• image_path (VARCHAR)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• created_at (TIMESTAMP)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8270" y="1645920"/>
            <a:ext cx="2407615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2862" y="1828800"/>
            <a:ext cx="2078431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1600" b="1">
                <a:solidFill>
                  <a:srgbClr val="1E293B"/>
                </a:solidFill>
                <a:latin typeface="Arial"/>
              </a:defRPr>
            </a:pPr>
            <a:r>
              <a:t>💬 consultations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• id (INT PK)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• farmer_id (INT FK)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• expert_id (INT FK)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• notes (TEXT)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• status (VARCHAR)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• created_at (TIMESTAMP)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1645" y="1645920"/>
            <a:ext cx="2407615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16237" y="1828800"/>
            <a:ext cx="2078431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1600" b="1">
                <a:solidFill>
                  <a:srgbClr val="1E293B"/>
                </a:solidFill>
                <a:latin typeface="Arial"/>
              </a:defRPr>
            </a:pPr>
            <a:r>
              <a:t>📖 diseases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• id (INT PK)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• crop (VARCHAR)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• name (VARCHAR)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• chemical (TEXT)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• organic (TEXT)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• prevention (TEXT)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Arial"/>
              </a:defRPr>
            </a:pPr>
            <a:r>
              <a:t>PLANT DOCTOR AI 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  <a:latin typeface="Arial"/>
              </a:defRPr>
            </a:pPr>
            <a:r>
              <a:t>Model Results &amp; Performance Diagnostics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9436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1800" b="1">
                <a:solidFill>
                  <a:srgbClr val="064E3B"/>
                </a:solidFill>
                <a:latin typeface="Arial"/>
              </a:defRPr>
            </a:pPr>
            <a:r>
              <a:t>Accuracy Breakdown per Crop Classifier</a:t>
            </a:r>
          </a:p>
          <a:p>
            <a:pPr algn="l">
              <a:spcAft>
                <a:spcPts val="200"/>
              </a:spcAft>
              <a:defRPr sz="1300" b="1">
                <a:solidFill>
                  <a:srgbClr val="1E293B"/>
                </a:solidFill>
                <a:latin typeface="Arial"/>
              </a:defRPr>
            </a:pPr>
            <a:r>
              <a:t>🥔 Potato Leaf Classifier</a:t>
            </a:r>
          </a:p>
          <a:p>
            <a:pPr algn="l">
              <a:spcAft>
                <a:spcPts val="140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⭐ 99.2% Accuracy | Optimized via Random Forest with Color + Spatial features.</a:t>
            </a:r>
          </a:p>
          <a:p>
            <a:pPr algn="l">
              <a:spcAft>
                <a:spcPts val="200"/>
              </a:spcAft>
              <a:defRPr sz="1300" b="1">
                <a:solidFill>
                  <a:srgbClr val="1E293B"/>
                </a:solidFill>
                <a:latin typeface="Arial"/>
              </a:defRPr>
            </a:pPr>
            <a:r>
              <a:t>🫑 Pepper Leaf Classifier</a:t>
            </a:r>
          </a:p>
          <a:p>
            <a:pPr algn="l">
              <a:spcAft>
                <a:spcPts val="140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⭐ 99.1% Accuracy | XGBoost model parsing high-intensity bacterial spot margins.</a:t>
            </a:r>
          </a:p>
          <a:p>
            <a:pPr algn="l">
              <a:spcAft>
                <a:spcPts val="200"/>
              </a:spcAft>
              <a:defRPr sz="1300" b="1">
                <a:solidFill>
                  <a:srgbClr val="1E293B"/>
                </a:solidFill>
                <a:latin typeface="Arial"/>
              </a:defRPr>
            </a:pPr>
            <a:r>
              <a:t>🍅 Tomato Leaf Classifier</a:t>
            </a:r>
          </a:p>
          <a:p>
            <a:pPr algn="l">
              <a:spcAft>
                <a:spcPts val="140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⭐ 95.4% Accuracy | Multi-class XGBoost mapping 9 distinct disease categories.</a:t>
            </a:r>
          </a:p>
          <a:p>
            <a:pPr algn="l">
              <a:spcAft>
                <a:spcPts val="200"/>
              </a:spcAft>
              <a:defRPr sz="1300" b="1">
                <a:solidFill>
                  <a:srgbClr val="1E293B"/>
                </a:solidFill>
                <a:latin typeface="Arial"/>
              </a:defRPr>
            </a:pPr>
            <a:r>
              <a:t>🌽 Corn Leaf Classifier</a:t>
            </a:r>
          </a:p>
          <a:p>
            <a:pPr algn="l">
              <a:defRPr sz="1100" b="0">
                <a:solidFill>
                  <a:srgbClr val="64748B"/>
                </a:solidFill>
                <a:latin typeface="Arial"/>
              </a:defRPr>
            </a:pPr>
            <a:r>
              <a:t>⭐ 87.2% Accuracy | XGBoost classifier optimizing longitudinal leaf patterns.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645920"/>
            <a:ext cx="4602175" cy="438912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828800"/>
            <a:ext cx="4114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Execution &amp; Performance Stats</a:t>
            </a:r>
          </a:p>
          <a:p>
            <a:pPr algn="l">
              <a:spcAft>
                <a:spcPts val="200"/>
              </a:spcAft>
              <a:defRPr sz="3200" b="1">
                <a:solidFill>
                  <a:srgbClr val="10B981"/>
                </a:solidFill>
                <a:latin typeface="Arial"/>
              </a:defRPr>
            </a:pPr>
            <a:r>
              <a:t>74,000+</a:t>
            </a:r>
          </a:p>
          <a:p>
            <a:pPr algn="l">
              <a:spcAft>
                <a:spcPts val="1600"/>
              </a:spcAft>
              <a:defRPr sz="1200" b="0">
                <a:solidFill>
                  <a:srgbClr val="F0FDF4"/>
                </a:solidFill>
                <a:latin typeface="Arial"/>
              </a:defRPr>
            </a:pPr>
            <a:r>
              <a:t>Total dataset leaf images parsed for robust training, validation and generalization.</a:t>
            </a:r>
          </a:p>
          <a:p>
            <a:pPr algn="l">
              <a:spcAft>
                <a:spcPts val="200"/>
              </a:spcAft>
              <a:defRPr sz="3200" b="1">
                <a:solidFill>
                  <a:srgbClr val="10B981"/>
                </a:solidFill>
                <a:latin typeface="Arial"/>
              </a:defRPr>
            </a:pPr>
            <a:r>
              <a:t>&lt; 0.15 Seconds</a:t>
            </a:r>
          </a:p>
          <a:p>
            <a:pPr algn="l">
              <a:spcAft>
                <a:spcPts val="1600"/>
              </a:spcAft>
              <a:defRPr sz="1200" b="0">
                <a:solidFill>
                  <a:srgbClr val="F0FDF4"/>
                </a:solidFill>
                <a:latin typeface="Arial"/>
              </a:defRPr>
            </a:pPr>
            <a:r>
              <a:t>Model inference processing time on server CPU nodes.</a:t>
            </a:r>
          </a:p>
          <a:p>
            <a:pPr algn="l">
              <a:spcAft>
                <a:spcPts val="200"/>
              </a:spcAft>
              <a:defRPr sz="3200" b="1">
                <a:solidFill>
                  <a:srgbClr val="10B981"/>
                </a:solidFill>
                <a:latin typeface="Arial"/>
              </a:defRPr>
            </a:pPr>
            <a:r>
              <a:t>&lt; 2.5 Seconds</a:t>
            </a:r>
          </a:p>
          <a:p>
            <a:pPr algn="l">
              <a:defRPr sz="1200" b="0">
                <a:solidFill>
                  <a:srgbClr val="F0FDF4"/>
                </a:solidFill>
                <a:latin typeface="Arial"/>
              </a:defRPr>
            </a:pPr>
            <a:r>
              <a:t>Complete system execution (features + ML classification + LLM advice query).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Arial"/>
              </a:defRPr>
            </a:pPr>
            <a:r>
              <a:t>PLANT DOCTOR AI 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  <a:latin typeface="Arial"/>
              </a:defRPr>
            </a:pPr>
            <a:r>
              <a:t>Technology Stack &amp; Cloud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407615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828800"/>
            <a:ext cx="2078431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  <a:defRPr sz="1600" b="1">
                <a:solidFill>
                  <a:srgbClr val="064E3B"/>
                </a:solidFill>
                <a:latin typeface="Arial"/>
              </a:defRPr>
            </a:pPr>
            <a:r>
              <a:t>🎈 Client Frontend</a:t>
            </a:r>
          </a:p>
          <a:p>
            <a:pPr algn="l">
              <a:spcAft>
                <a:spcPts val="1000"/>
              </a:spcAft>
              <a:defRPr sz="1200" b="1">
                <a:solidFill>
                  <a:srgbClr val="1E293B"/>
                </a:solidFill>
                <a:latin typeface="Arial"/>
              </a:defRPr>
            </a:pPr>
            <a:r>
              <a:t>Streamlit Framework</a:t>
            </a:r>
          </a:p>
          <a:p>
            <a:pPr algn="l">
              <a:spcAft>
                <a:spcPts val="1000"/>
              </a:spcAft>
              <a:defRPr sz="1200" b="1">
                <a:solidFill>
                  <a:srgbClr val="1E293B"/>
                </a:solidFill>
                <a:latin typeface="Arial"/>
              </a:defRPr>
            </a:pPr>
            <a:r>
              <a:t>HTML5 Custom Components</a:t>
            </a:r>
          </a:p>
          <a:p>
            <a:pPr algn="l">
              <a:spcAft>
                <a:spcPts val="1000"/>
              </a:spcAft>
              <a:defRPr sz="1200" b="1">
                <a:solidFill>
                  <a:srgbClr val="1E293B"/>
                </a:solidFill>
                <a:latin typeface="Arial"/>
              </a:defRPr>
            </a:pPr>
            <a:r>
              <a:t>Custom HSL CSS styling</a:t>
            </a:r>
          </a:p>
          <a:p>
            <a:pPr algn="l">
              <a:spcAft>
                <a:spcPts val="1000"/>
              </a:spcAft>
              <a:defRPr sz="1200" b="1">
                <a:solidFill>
                  <a:srgbClr val="1E293B"/>
                </a:solidFill>
                <a:latin typeface="Arial"/>
              </a:defRPr>
            </a:pPr>
            <a:r>
              <a:t>PyPlot / Plotly charts</a:t>
            </a:r>
          </a:p>
          <a:p>
            <a:pPr algn="l">
              <a:spcAft>
                <a:spcPts val="1000"/>
              </a:spcAft>
              <a:defRPr sz="1200" b="1">
                <a:solidFill>
                  <a:srgbClr val="1E293B"/>
                </a:solidFill>
                <a:latin typeface="Arial"/>
              </a:defRPr>
            </a:pPr>
            <a:r>
              <a:t>PWA Install configuration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504895" y="1645920"/>
            <a:ext cx="2407615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69487" y="1828800"/>
            <a:ext cx="2078431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  <a:defRPr sz="1600" b="1">
                <a:solidFill>
                  <a:srgbClr val="064E3B"/>
                </a:solidFill>
                <a:latin typeface="Arial"/>
              </a:defRPr>
            </a:pPr>
            <a:r>
              <a:t>⚡ Backend APIs</a:t>
            </a:r>
          </a:p>
          <a:p>
            <a:pPr algn="l">
              <a:spcAft>
                <a:spcPts val="1000"/>
              </a:spcAft>
              <a:defRPr sz="1200" b="1">
                <a:solidFill>
                  <a:srgbClr val="1E293B"/>
                </a:solidFill>
                <a:latin typeface="Arial"/>
              </a:defRPr>
            </a:pPr>
            <a:r>
              <a:t>FastAPI Asynchronous Engine</a:t>
            </a:r>
          </a:p>
          <a:p>
            <a:pPr algn="l">
              <a:spcAft>
                <a:spcPts val="1000"/>
              </a:spcAft>
              <a:defRPr sz="1200" b="1">
                <a:solidFill>
                  <a:srgbClr val="1E293B"/>
                </a:solidFill>
                <a:latin typeface="Arial"/>
              </a:defRPr>
            </a:pPr>
            <a:r>
              <a:t>SlowAPI rate limiters</a:t>
            </a:r>
          </a:p>
          <a:p>
            <a:pPr algn="l">
              <a:spcAft>
                <a:spcPts val="1000"/>
              </a:spcAft>
              <a:defRPr sz="1200" b="1">
                <a:solidFill>
                  <a:srgbClr val="1E293B"/>
                </a:solidFill>
                <a:latin typeface="Arial"/>
              </a:defRPr>
            </a:pPr>
            <a:r>
              <a:t>PyJWT session tokens</a:t>
            </a:r>
          </a:p>
          <a:p>
            <a:pPr algn="l">
              <a:spcAft>
                <a:spcPts val="1000"/>
              </a:spcAft>
              <a:defRPr sz="1200" b="1">
                <a:solidFill>
                  <a:srgbClr val="1E293B"/>
                </a:solidFill>
                <a:latin typeface="Arial"/>
              </a:defRPr>
            </a:pPr>
            <a:r>
              <a:t>Bcrypt security systems</a:t>
            </a:r>
          </a:p>
          <a:p>
            <a:pPr algn="l">
              <a:spcAft>
                <a:spcPts val="1000"/>
              </a:spcAft>
              <a:defRPr sz="1200" b="1">
                <a:solidFill>
                  <a:srgbClr val="1E293B"/>
                </a:solidFill>
                <a:latin typeface="Arial"/>
              </a:defRPr>
            </a:pPr>
            <a:r>
              <a:t>SMTP background mailers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8270" y="1645920"/>
            <a:ext cx="2407615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2862" y="1828800"/>
            <a:ext cx="2078431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  <a:defRPr sz="1600" b="1">
                <a:solidFill>
                  <a:srgbClr val="064E3B"/>
                </a:solidFill>
                <a:latin typeface="Arial"/>
              </a:defRPr>
            </a:pPr>
            <a:r>
              <a:t>👁️ Computer Vision / ML</a:t>
            </a:r>
          </a:p>
          <a:p>
            <a:pPr algn="l">
              <a:spcAft>
                <a:spcPts val="1000"/>
              </a:spcAft>
              <a:defRPr sz="1200" b="1">
                <a:solidFill>
                  <a:srgbClr val="1E293B"/>
                </a:solidFill>
                <a:latin typeface="Arial"/>
              </a:defRPr>
            </a:pPr>
            <a:r>
              <a:t>Python Scikit-Learn</a:t>
            </a:r>
          </a:p>
          <a:p>
            <a:pPr algn="l">
              <a:spcAft>
                <a:spcPts val="1000"/>
              </a:spcAft>
              <a:defRPr sz="1200" b="1">
                <a:solidFill>
                  <a:srgbClr val="1E293B"/>
                </a:solidFill>
                <a:latin typeface="Arial"/>
              </a:defRPr>
            </a:pPr>
            <a:r>
              <a:t>Scikit-Image processing</a:t>
            </a:r>
          </a:p>
          <a:p>
            <a:pPr algn="l">
              <a:spcAft>
                <a:spcPts val="1000"/>
              </a:spcAft>
              <a:defRPr sz="1200" b="1">
                <a:solidFill>
                  <a:srgbClr val="1E293B"/>
                </a:solidFill>
                <a:latin typeface="Arial"/>
              </a:defRPr>
            </a:pPr>
            <a:r>
              <a:t>OpenCV Image Manipulation</a:t>
            </a:r>
          </a:p>
          <a:p>
            <a:pPr algn="l">
              <a:spcAft>
                <a:spcPts val="1000"/>
              </a:spcAft>
              <a:defRPr sz="1200" b="1">
                <a:solidFill>
                  <a:srgbClr val="1E293B"/>
                </a:solidFill>
                <a:latin typeface="Arial"/>
              </a:defRPr>
            </a:pPr>
            <a:r>
              <a:t>XGBoost Classifier pipelines</a:t>
            </a:r>
          </a:p>
          <a:p>
            <a:pPr algn="l">
              <a:spcAft>
                <a:spcPts val="1000"/>
              </a:spcAft>
              <a:defRPr sz="1200" b="1">
                <a:solidFill>
                  <a:srgbClr val="1E293B"/>
                </a:solidFill>
                <a:latin typeface="Arial"/>
              </a:defRPr>
            </a:pPr>
            <a:r>
              <a:t>Joblib model serializers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1645" y="1645920"/>
            <a:ext cx="2407615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16237" y="1828800"/>
            <a:ext cx="2078431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  <a:defRPr sz="1600" b="1">
                <a:solidFill>
                  <a:srgbClr val="064E3B"/>
                </a:solidFill>
                <a:latin typeface="Arial"/>
              </a:defRPr>
            </a:pPr>
            <a:r>
              <a:t>☁️ DevOps &amp; Database</a:t>
            </a:r>
          </a:p>
          <a:p>
            <a:pPr algn="l">
              <a:spcAft>
                <a:spcPts val="1000"/>
              </a:spcAft>
              <a:defRPr sz="1200" b="1">
                <a:solidFill>
                  <a:srgbClr val="1E293B"/>
                </a:solidFill>
                <a:latin typeface="Arial"/>
              </a:defRPr>
            </a:pPr>
            <a:r>
              <a:t>MySQL Relational Database</a:t>
            </a:r>
          </a:p>
          <a:p>
            <a:pPr algn="l">
              <a:spcAft>
                <a:spcPts val="1000"/>
              </a:spcAft>
              <a:defRPr sz="1200" b="1">
                <a:solidFill>
                  <a:srgbClr val="1E293B"/>
                </a:solidFill>
                <a:latin typeface="Arial"/>
              </a:defRPr>
            </a:pPr>
            <a:r>
              <a:t>Railway App cloud hosting</a:t>
            </a:r>
          </a:p>
          <a:p>
            <a:pPr algn="l">
              <a:spcAft>
                <a:spcPts val="1000"/>
              </a:spcAft>
              <a:defRPr sz="1200" b="1">
                <a:solidFill>
                  <a:srgbClr val="1E293B"/>
                </a:solidFill>
                <a:latin typeface="Arial"/>
              </a:defRPr>
            </a:pPr>
            <a:r>
              <a:t>Git version control</a:t>
            </a:r>
          </a:p>
          <a:p>
            <a:pPr algn="l">
              <a:spcAft>
                <a:spcPts val="1000"/>
              </a:spcAft>
              <a:defRPr sz="1200" b="1">
                <a:solidFill>
                  <a:srgbClr val="1E293B"/>
                </a:solidFill>
                <a:latin typeface="Arial"/>
              </a:defRPr>
            </a:pPr>
            <a:r>
              <a:t>GitHub automated flow</a:t>
            </a:r>
          </a:p>
          <a:p>
            <a:pPr algn="l">
              <a:spcAft>
                <a:spcPts val="1000"/>
              </a:spcAft>
              <a:defRPr sz="1200" b="1">
                <a:solidFill>
                  <a:srgbClr val="1E293B"/>
                </a:solidFill>
                <a:latin typeface="Arial"/>
              </a:defRPr>
            </a:pPr>
            <a:r>
              <a:t>Streamlit Cloud staging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Arial"/>
              </a:defRPr>
            </a:pPr>
            <a:r>
              <a:t>PLANT DOCTOR AI 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  <a:latin typeface="Arial"/>
              </a:defRPr>
            </a:pPr>
            <a:r>
              <a:t>Conclusion &amp; Future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480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000" b="1">
                <a:solidFill>
                  <a:srgbClr val="064E3B"/>
                </a:solidFill>
                <a:latin typeface="Arial"/>
              </a:defRPr>
            </a:pPr>
            <a:r>
              <a:t>Project Achievements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✓ High Accuracy Target Diagnostic</a:t>
            </a:r>
          </a:p>
          <a:p>
            <a:pPr algn="l">
              <a:spcAft>
                <a:spcPts val="1400"/>
              </a:spcAft>
              <a:defRPr sz="1200" b="0">
                <a:solidFill>
                  <a:srgbClr val="64748B"/>
                </a:solidFill>
                <a:latin typeface="Arial"/>
              </a:defRPr>
            </a:pPr>
            <a:r>
              <a:t>Successfully trained highly robust crop disease classifiers mapping 18 total classes with minimal on-disk size footprint (&lt;12MB per pkl).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✓ Scalable &amp; Secure Architecture</a:t>
            </a:r>
          </a:p>
          <a:p>
            <a:pPr algn="l">
              <a:spcAft>
                <a:spcPts val="1400"/>
              </a:spcAft>
              <a:defRPr sz="1200" b="0">
                <a:solidFill>
                  <a:srgbClr val="64748B"/>
                </a:solidFill>
                <a:latin typeface="Arial"/>
              </a:defRPr>
            </a:pPr>
            <a:r>
              <a:t>FastAPI + MySQL system creates a solid enterprise-ready groundwork for user registration, live scanning history, and real expert chat scheduling.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✓ Actionable Urdu Reports</a:t>
            </a:r>
          </a:p>
          <a:p>
            <a:pPr algn="l">
              <a:defRPr sz="1200" b="0">
                <a:solidFill>
                  <a:srgbClr val="64748B"/>
                </a:solidFill>
                <a:latin typeface="Arial"/>
              </a:defRPr>
            </a:pPr>
            <a:r>
              <a:t>Google Gemini API integration ensures diagnostics are easily readable and digestible by any standard Pakistani kisan in Roman Urdu.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30975" y="1645920"/>
            <a:ext cx="5029200" cy="438912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05295" y="1828800"/>
            <a:ext cx="4480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Roadmap &amp; Future Extensions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🌾 Crop Extension</a:t>
            </a:r>
          </a:p>
          <a:p>
            <a:pPr algn="l">
              <a:spcAft>
                <a:spcPts val="1400"/>
              </a:spcAft>
              <a:defRPr sz="1200" b="0">
                <a:solidFill>
                  <a:srgbClr val="F0FDF4"/>
                </a:solidFill>
                <a:latin typeface="Arial"/>
              </a:defRPr>
            </a:pPr>
            <a:r>
              <a:t>Expanding dataset resources to incorporate high-impact Pakistani crops: Wheat (Gandum), Rice (Chawal), and Cotton (Kapaas).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📱 On-Device Edge Inference Mobile App</a:t>
            </a:r>
          </a:p>
          <a:p>
            <a:pPr algn="l">
              <a:spcAft>
                <a:spcPts val="1400"/>
              </a:spcAft>
              <a:defRPr sz="1200" b="0">
                <a:solidFill>
                  <a:srgbClr val="F0FDF4"/>
                </a:solidFill>
                <a:latin typeface="Arial"/>
              </a:defRPr>
            </a:pPr>
            <a:r>
              <a:t>Porting frontend to React Native or Flutter, running classification offline on mobile utilizing ONNX runtime pipelines.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🛸 IoT &amp; Automated Farms</a:t>
            </a:r>
          </a:p>
          <a:p>
            <a:pPr algn="l">
              <a:defRPr sz="1200" b="0">
                <a:solidFill>
                  <a:srgbClr val="F0FDF4"/>
                </a:solidFill>
                <a:latin typeface="Arial"/>
              </a:defRPr>
            </a:pPr>
            <a:r>
              <a:t>Integrating with local crop drone video feeds and soil sensors to predict infestations before visible leaf spots develop.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