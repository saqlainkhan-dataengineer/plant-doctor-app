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731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🌱 ACADEMIC PROJECT · FINAL PANEL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7589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Plant Doctor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80360"/>
            <a:ext cx="7589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0B981"/>
                </a:solidFill>
                <a:latin typeface="Segoe UI"/>
              </a:defRPr>
            </a:pPr>
            <a:r>
              <a:t>Pakistani Kisanon Ka AI Doctor</a:t>
            </a:r>
          </a:p>
          <a:p>
            <a:pPr algn="l">
              <a:defRPr sz="1400" b="0">
                <a:solidFill>
                  <a:srgbClr val="A7F3D0"/>
                </a:solidFill>
                <a:latin typeface="Segoe UI"/>
              </a:defRPr>
            </a:pPr>
            <a:r>
              <a:t>AI-Powered Crop Disease Detection · Roman Urdu Advice · Expert Connect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72000"/>
            <a:ext cx="3429000" cy="1051560"/>
          </a:xfrm>
          <a:prstGeom prst="rect">
            <a:avLst/>
          </a:prstGeom>
          <a:solidFill>
            <a:srgbClr val="055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0916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Saqlain Sajjad</a:t>
            </a:r>
          </a:p>
          <a:p>
            <a:pPr algn="l">
              <a:defRPr sz="1300" b="0">
                <a:solidFill>
                  <a:srgbClr val="A7F3D0"/>
                </a:solidFill>
                <a:latin typeface="Segoe UI"/>
              </a:defRPr>
            </a:pPr>
            <a:r>
              <a:t>Roll No. 225218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572000"/>
            <a:ext cx="3429000" cy="1051560"/>
          </a:xfrm>
          <a:prstGeom prst="rect">
            <a:avLst/>
          </a:prstGeom>
          <a:solidFill>
            <a:srgbClr val="055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70916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Raheel Chishti</a:t>
            </a:r>
          </a:p>
          <a:p>
            <a:pPr algn="l">
              <a:defRPr sz="1300" b="0">
                <a:solidFill>
                  <a:srgbClr val="A7F3D0"/>
                </a:solidFill>
                <a:latin typeface="Segoe UI"/>
              </a:defRPr>
            </a:pPr>
            <a:r>
              <a:t>Roll No. 225186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97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4 Crops · 18 Diseases · 74,000+ Training Images · XGBoost 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28600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FFFFFF"/>
                </a:solidFill>
                <a:latin typeface="Segoe UI"/>
              </a:defRPr>
            </a:pPr>
            <a:r>
              <a:t>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The Challenge in Modern Agriculture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53492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000" b="1">
                <a:solidFill>
                  <a:srgbClr val="064E3B"/>
                </a:solidFill>
                <a:latin typeface="Segoe UI"/>
              </a:defRPr>
            </a:pPr>
            <a:r>
              <a:t>❌ Traditional Problems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Segoe UI"/>
              </a:defRPr>
            </a:pPr>
            <a:r>
              <a:t>Late Diagnosis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Diseases identified after major crop damage — yield already lost.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Segoe UI"/>
              </a:defRPr>
            </a:pPr>
            <a:r>
              <a:t>Expert Shortage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Rural Punjab lacks accessible agricultural experts in villages.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1E293B"/>
                </a:solidFill>
                <a:latin typeface="Segoe UI"/>
              </a:defRPr>
            </a:pPr>
            <a:r>
              <a:t>Language Barrier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Tools in English only — no Urdu / Roman Urdu for local farmers.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349240" cy="44348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783080"/>
            <a:ext cx="4800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📉 Socio-Economic Impact</a:t>
            </a:r>
          </a:p>
          <a:p>
            <a:pPr algn="l">
              <a:spcAft>
                <a:spcPts val="600"/>
              </a:spcAft>
              <a:defRPr sz="4000" b="1">
                <a:solidFill>
                  <a:srgbClr val="10B981"/>
                </a:solidFill>
                <a:latin typeface="Segoe UI"/>
              </a:defRPr>
            </a:pPr>
            <a:r>
              <a:t>35–40%</a:t>
            </a:r>
          </a:p>
          <a:p>
            <a:pPr algn="l">
              <a:spcAft>
                <a:spcPts val="1800"/>
              </a:spcAft>
              <a:defRPr sz="1300" b="0">
                <a:solidFill>
                  <a:srgbClr val="A7F3D0"/>
                </a:solidFill>
                <a:latin typeface="Segoe UI"/>
              </a:defRPr>
            </a:pPr>
            <a:r>
              <a:t>Estimated crop yield loss from late disease detection in Pakistan.</a:t>
            </a:r>
          </a:p>
          <a:p>
            <a:pPr algn="l">
              <a:spcAft>
                <a:spcPts val="6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Food Security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Potato, Tomato, Pepper &amp; Corn failures threaten rural household income.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Our Solution — The AI Doctor for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3520440" cy="44348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🔬 Instant AI Scan</a:t>
            </a:r>
          </a:p>
          <a:p>
            <a:pPr algn="l">
              <a:spcAft>
                <a:spcPts val="1600"/>
              </a:spcAft>
              <a:defRPr sz="1300" b="0">
                <a:solidFill>
                  <a:srgbClr val="A7F3D0"/>
                </a:solidFill>
                <a:latin typeface="Segoe UI"/>
              </a:defRPr>
            </a:pPr>
            <a:r>
              <a:t>Upload leaf photo → XGBoost detects crop &amp; disease in &lt;3 seconds.</a:t>
            </a:r>
          </a:p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✅ Roman Urdu + Urdu treatment via Gemini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600200"/>
            <a:ext cx="35204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1E293B"/>
                </a:solidFill>
                <a:latin typeface="Segoe UI"/>
              </a:defRPr>
            </a:pPr>
            <a:r>
              <a:t>💬 Expert Connect</a:t>
            </a:r>
          </a:p>
          <a:p>
            <a:pPr algn="l">
              <a:spcAft>
                <a:spcPts val="16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Farmers request consultations; experts review scan history.</a:t>
            </a:r>
          </a:p>
          <a:p>
            <a:pPr algn="l">
              <a:defRPr sz="1100" b="1">
                <a:solidFill>
                  <a:srgbClr val="1E293B"/>
                </a:solidFill>
                <a:latin typeface="Segoe UI"/>
              </a:defRPr>
            </a:pPr>
            <a:r>
              <a:t>✅ Roman Urdu + Urdu treatment via Gemini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600200"/>
            <a:ext cx="3520440" cy="4434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828800"/>
            <a:ext cx="3063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1800" b="1">
                <a:solidFill>
                  <a:srgbClr val="1E293B"/>
                </a:solidFill>
                <a:latin typeface="Segoe UI"/>
              </a:defRPr>
            </a:pPr>
            <a:r>
              <a:t>🌧️ Live Weather</a:t>
            </a:r>
          </a:p>
          <a:p>
            <a:pPr algn="l">
              <a:spcAft>
                <a:spcPts val="1600"/>
              </a:spcAft>
              <a:defRPr sz="1300" b="0">
                <a:solidFill>
                  <a:srgbClr val="64748B"/>
                </a:solidFill>
                <a:latin typeface="Segoe UI"/>
              </a:defRPr>
            </a:pPr>
            <a:r>
              <a:t>Open-Meteo feeds warn when spray conditions are unsafe.</a:t>
            </a:r>
          </a:p>
          <a:p>
            <a:pPr algn="l">
              <a:defRPr sz="1100" b="1">
                <a:solidFill>
                  <a:srgbClr val="1E293B"/>
                </a:solidFill>
                <a:latin typeface="Segoe UI"/>
              </a:defRPr>
            </a:pPr>
            <a:r>
              <a:t>✅ Roman Urdu + Urdu treatment via Gemini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🌐 Live App: plantdoctorapp.streamlit.app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System Architecture — Client ↔ Server ↔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28800"/>
            <a:ext cx="320040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064E3B"/>
                </a:solidFill>
                <a:latin typeface="Segoe UI"/>
              </a:defRPr>
            </a:pPr>
            <a:r>
              <a:t>📱 Streamlit Cloud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Custom CSS UI</a:t>
            </a:r>
            <a:br/>
            <a:r>
              <a:t>ML .pkl inference</a:t>
            </a:r>
            <a:br/>
            <a:r>
              <a:t>Gemini advice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320040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064E3B"/>
                </a:solidFill>
                <a:latin typeface="Segoe UI"/>
              </a:defRPr>
            </a:pPr>
            <a:r>
              <a:t>⚡ FastAPI · Railway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REST API · JWT</a:t>
            </a:r>
            <a:br/>
            <a:r>
              <a:t>Bcrypt · Rate limits</a:t>
            </a:r>
            <a:br/>
            <a:r>
              <a:t>MySQL async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1828800"/>
            <a:ext cx="320040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20116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1">
                <a:solidFill>
                  <a:srgbClr val="064E3B"/>
                </a:solidFill>
                <a:latin typeface="Segoe UI"/>
              </a:defRPr>
            </a:pPr>
            <a:r>
              <a:t>🗄️ MySQL + Models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users · scans</a:t>
            </a:r>
            <a:br/>
            <a:r>
              <a:t>consultations · diseases</a:t>
            </a:r>
            <a:br/>
            <a:r>
              <a:t>JPEG image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577840"/>
            <a:ext cx="10835640" cy="7772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Data flow: Farmer uploads image → XGBoost classifies → Gemini generates Urdu advice → Scan saved to MySQL → Dashboard &amp; Admin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AI / ML 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Segoe UI"/>
              </a:defRPr>
            </a:pPr>
            <a:r>
              <a:t>Custom XGBoost v3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74,000+ labeled crop leaf images across 4 crops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Classical CV: HOG, LBP, GLCM, Gabor filters, ORB keypoints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XGBoost + Random Forest ensemble — compressed .pkl for &lt;3s inference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Auto crop detection before disease classification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Per-crop confusion matrices &amp; classification reports (v3 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CROPS 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Supported Crops &amp; 18 Disease Classes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🥔 Potato (3): Early Blight, Late Blight, Healthy — 99% test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🍅 Tomato (9): Bacterial Spot, Early/Late Blight, Leaf Mold, Septoria, Target Spot, YLCV, Mosaic, Healthy — 87%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🫑 Pepper (2): Bacterial Spot, Healthy — 98% test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🌽 Corn (4): Blight, Common Rust, Gray Leaf Spot, Healthy — 99% test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Roman Urdu disease names shown in Streamlit UI for farmers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Key Platform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🔐 Secure Auth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JWT · Farmer / Expert / Admin 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169164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🔬 AI Quick Scan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4 crops · confidence score · history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69164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👨‍⚕️ AI Doctor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Gemini Roman Urdu treatment plans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20" y="169164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82880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🌧️ Weather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Lahore live temp, wind, humidity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3192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💬 Expert Chat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Farmer ↔ expert consultations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393192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406908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📊 Dashboard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Plotly charts · crop &amp; disease trends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3192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🛡️ Admin Panel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Users · scans · platform stats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3931920"/>
            <a:ext cx="26060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4069080"/>
            <a:ext cx="2331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064E3B"/>
                </a:solidFill>
                <a:latin typeface="Segoe UI"/>
              </a:defRPr>
            </a:pPr>
            <a:r>
              <a:t>📋 Disease KB</a:t>
            </a:r>
          </a:p>
          <a:p>
            <a:pPr algn="l">
              <a:defRPr sz="1100" b="0">
                <a:solidFill>
                  <a:srgbClr val="64748B"/>
                </a:solidFill>
                <a:latin typeface="Segoe UI"/>
              </a:defRPr>
            </a:pPr>
            <a:r>
              <a:t>18 diseases · symptoms &amp; treatment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DATA 🗄️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Database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Segoe UI"/>
              </a:defRPr>
            </a:pPr>
            <a:r>
              <a:t>MySQL on Railway · agnostic SQL wrapper for local dev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users — authentication, roles (Farmer, Expert, Admin), email verification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scans — crop, disease, confidence, ai_advice, compressed JPEG image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consultations — farmer ↔ expert messaging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diseases — knowledge base: symptoms, treatment, prevention (18 entries)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V3 XGBOOST · 18 DISEASE CLASSES · 74,000+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Results &amp; Model Accuracy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26974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2697480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2423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064E3B"/>
                </a:solidFill>
                <a:latin typeface="Segoe UI"/>
              </a:defRPr>
            </a:pPr>
            <a:r>
              <a:t>🥔 Potato</a:t>
            </a:r>
          </a:p>
          <a:p>
            <a:pPr algn="ctr">
              <a:spcAft>
                <a:spcPts val="14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3 disease classes</a:t>
            </a:r>
          </a:p>
          <a:p>
            <a:pPr algn="ctr">
              <a:spcAft>
                <a:spcPts val="400"/>
              </a:spcAft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99%</a:t>
            </a:r>
          </a:p>
          <a:p>
            <a:pPr algn="ctr">
              <a:spcAft>
                <a:spcPts val="100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Test Accuracy</a:t>
            </a:r>
          </a:p>
          <a:p>
            <a:pPr algn="ctr">
              <a:defRPr sz="1000" b="0">
                <a:solidFill>
                  <a:srgbClr val="64748B"/>
                </a:solidFill>
                <a:latin typeface="Segoe UI"/>
              </a:defRPr>
            </a:pPr>
            <a:r>
              <a:t>Train —  ·  CV —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91640"/>
            <a:ext cx="26974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1691640"/>
            <a:ext cx="2697480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20240"/>
            <a:ext cx="2423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064E3B"/>
                </a:solidFill>
                <a:latin typeface="Segoe UI"/>
              </a:defRPr>
            </a:pPr>
            <a:r>
              <a:t>🍅 Tomato</a:t>
            </a:r>
          </a:p>
          <a:p>
            <a:pPr algn="ctr">
              <a:spcAft>
                <a:spcPts val="14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9 disease classes</a:t>
            </a:r>
          </a:p>
          <a:p>
            <a:pPr algn="ctr">
              <a:spcAft>
                <a:spcPts val="400"/>
              </a:spcAft>
              <a:defRPr sz="3600" b="1">
                <a:solidFill>
                  <a:srgbClr val="D97706"/>
                </a:solidFill>
                <a:latin typeface="Segoe UI"/>
              </a:defRPr>
            </a:pPr>
            <a:r>
              <a:t>87%</a:t>
            </a:r>
          </a:p>
          <a:p>
            <a:pPr algn="ctr">
              <a:spcAft>
                <a:spcPts val="100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Test Accuracy</a:t>
            </a:r>
          </a:p>
          <a:p>
            <a:pPr algn="ctr">
              <a:defRPr sz="1000" b="0">
                <a:solidFill>
                  <a:srgbClr val="64748B"/>
                </a:solidFill>
                <a:latin typeface="Segoe UI"/>
              </a:defRPr>
            </a:pPr>
            <a:r>
              <a:t>Train 94%  ·  CV 84%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691640"/>
            <a:ext cx="26974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691640"/>
            <a:ext cx="2697480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2423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064E3B"/>
                </a:solidFill>
                <a:latin typeface="Segoe UI"/>
              </a:defRPr>
            </a:pPr>
            <a:r>
              <a:t>🫑 Pepper</a:t>
            </a:r>
          </a:p>
          <a:p>
            <a:pPr algn="ctr">
              <a:spcAft>
                <a:spcPts val="14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2 disease classes</a:t>
            </a:r>
          </a:p>
          <a:p>
            <a:pPr algn="ctr">
              <a:spcAft>
                <a:spcPts val="400"/>
              </a:spcAft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spcAft>
                <a:spcPts val="100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Test Accuracy</a:t>
            </a:r>
          </a:p>
          <a:p>
            <a:pPr algn="ctr">
              <a:defRPr sz="1000" b="0">
                <a:solidFill>
                  <a:srgbClr val="64748B"/>
                </a:solidFill>
                <a:latin typeface="Segoe UI"/>
              </a:defRPr>
            </a:pPr>
            <a:r>
              <a:t>Train 100%  ·  CV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1691640"/>
            <a:ext cx="269748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0" y="1691640"/>
            <a:ext cx="2697480" cy="109728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0" y="1920240"/>
            <a:ext cx="24231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1">
                <a:solidFill>
                  <a:srgbClr val="064E3B"/>
                </a:solidFill>
                <a:latin typeface="Segoe UI"/>
              </a:defRPr>
            </a:pPr>
            <a:r>
              <a:t>🌽 Corn</a:t>
            </a:r>
          </a:p>
          <a:p>
            <a:pPr algn="ctr">
              <a:spcAft>
                <a:spcPts val="1400"/>
              </a:spcAft>
              <a:defRPr sz="1200" b="0">
                <a:solidFill>
                  <a:srgbClr val="64748B"/>
                </a:solidFill>
                <a:latin typeface="Segoe UI"/>
              </a:defRPr>
            </a:pPr>
            <a:r>
              <a:t>4 disease classes</a:t>
            </a:r>
          </a:p>
          <a:p>
            <a:pPr algn="ctr">
              <a:spcAft>
                <a:spcPts val="400"/>
              </a:spcAft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99%</a:t>
            </a:r>
          </a:p>
          <a:p>
            <a:pPr algn="ctr">
              <a:spcAft>
                <a:spcPts val="100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Test Accuracy</a:t>
            </a:r>
          </a:p>
          <a:p>
            <a:pPr algn="ctr">
              <a:defRPr sz="1000" b="0">
                <a:solidFill>
                  <a:srgbClr val="64748B"/>
                </a:solidFill>
                <a:latin typeface="Segoe UI"/>
              </a:defRPr>
            </a:pPr>
            <a:r>
              <a:t>Train 100%  ·  CV 98%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10835640" cy="105156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7F3D0"/>
                </a:solidFill>
                <a:latin typeface="Segoe UI"/>
              </a:defRPr>
            </a:pPr>
            <a:r>
              <a:t>Potato 99% · Tomato 87% · Pepper 98% · Corn 99%  —  Inference &lt;3s per scan on Streamlit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v3 Confusion Matrices — All 4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57784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5486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7764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  <a:latin typeface="Segoe UI"/>
              </a:defRPr>
            </a:pPr>
            <a:r>
              <a:t>🥔 Potato · 3 classes · 99% test acc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1371600"/>
            <a:ext cx="557784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mato_v3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417320"/>
            <a:ext cx="5486400" cy="39188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99632" y="37764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  <a:latin typeface="Segoe UI"/>
              </a:defRPr>
            </a:pPr>
            <a:r>
              <a:t>🍅 Tomato · 9 classes · 87% test acc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557784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epper_v3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840480"/>
            <a:ext cx="548640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6199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  <a:latin typeface="Segoe UI"/>
              </a:defRPr>
            </a:pPr>
            <a:r>
              <a:t>🫑 Pepper · 2 classes · 98% test acc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3794760"/>
            <a:ext cx="5577840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rn_v3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3840480"/>
            <a:ext cx="5486400" cy="426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99632" y="6199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  <a:latin typeface="Segoe UI"/>
              </a:defRPr>
            </a:pPr>
            <a:r>
              <a:t>🌽 Corn · 4 classes · 99% test acc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POTATO_DISEASE_MODEL_V3.PKL · 3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🥔 Potato — v3 Model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806440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08760"/>
            <a:ext cx="6278880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1417320"/>
            <a:ext cx="5166360" cy="48920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9164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800" b="1">
                <a:solidFill>
                  <a:srgbClr val="10B981"/>
                </a:solidFill>
                <a:latin typeface="Segoe UI"/>
              </a:defRPr>
            </a:pPr>
            <a:r>
              <a:t>Test Accuracy: 99%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Classes: Early Blight, Late Blight, Healthy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Train: —  ·  5-Fold CV: —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Generalization: Minimal</a:t>
            </a:r>
          </a:p>
          <a:p>
            <a:pPr algn="l">
              <a:spcAft>
                <a:spcPts val="8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Features: HOG, LBP, GLCM, Gabor, ORB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Classifier: XGBoost +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TOMATO_DISEASE_MODEL_V3.PKL · 9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🍅 Tomato — v3 Model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806440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m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08760"/>
            <a:ext cx="6592824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1417320"/>
            <a:ext cx="5166360" cy="48920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9164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800" b="1">
                <a:solidFill>
                  <a:srgbClr val="10B981"/>
                </a:solidFill>
                <a:latin typeface="Segoe UI"/>
              </a:defRPr>
            </a:pPr>
            <a:r>
              <a:t>Test Accuracy: 87%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Classes: Bacterial Spot, Early/Late Blight, Leaf Mold, Septoria, Target Spot, YLCV, Mosaic, Healthy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Train: 94%  ·  5-Fold CV: 84%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Generalization: 7% gap (OK)</a:t>
            </a:r>
          </a:p>
          <a:p>
            <a:pPr algn="l">
              <a:spcAft>
                <a:spcPts val="8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Features: HOG, LBP, GLCM, Gabor, ORB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Classifier: XGBoost +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PEPPER_DISEASE_MODEL_V3.PKL · 2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🫑 Pepper — v3 Model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806440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pper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08760"/>
            <a:ext cx="6278880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1417320"/>
            <a:ext cx="5166360" cy="48920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9164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800" b="1">
                <a:solidFill>
                  <a:srgbClr val="10B981"/>
                </a:solidFill>
                <a:latin typeface="Segoe UI"/>
              </a:defRPr>
            </a:pPr>
            <a:r>
              <a:t>Test Accuracy: 98%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Classes: Bacterial Spot, Healthy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Train: 100%  ·  5-Fold CV: —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Generalization: No overfitting</a:t>
            </a:r>
          </a:p>
          <a:p>
            <a:pPr algn="l">
              <a:spcAft>
                <a:spcPts val="8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Features: HOG, LBP, GLCM, Gabor, ORB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Classifier: XGBoost +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CORN_DISEASE_MODEL_V3.PKL · 4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🌽 Corn — v3 Model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806440" cy="4892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rn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08760"/>
            <a:ext cx="6054634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37960" y="1417320"/>
            <a:ext cx="5166360" cy="48920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91640"/>
            <a:ext cx="4617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800" b="1">
                <a:solidFill>
                  <a:srgbClr val="10B981"/>
                </a:solidFill>
                <a:latin typeface="Segoe UI"/>
              </a:defRPr>
            </a:pPr>
            <a:r>
              <a:t>Test Accuracy: 99%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Classes: Blight, Common Rust, Gray Leaf Spot, Healthy</a:t>
            </a:r>
          </a:p>
          <a:p>
            <a:pPr algn="l">
              <a:spcAft>
                <a:spcPts val="10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Train: 100%  ·  5-Fold CV: 98%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Generalization: No overfitting</a:t>
            </a:r>
          </a:p>
          <a:p>
            <a:pPr algn="l">
              <a:spcAft>
                <a:spcPts val="800"/>
              </a:spcAft>
              <a:defRPr sz="1200" b="0">
                <a:solidFill>
                  <a:srgbClr val="A7F3D0"/>
                </a:solidFill>
                <a:latin typeface="Segoe UI"/>
              </a:defRPr>
            </a:pPr>
            <a:r>
              <a:t>Features: HOG, LBP, GLCM, Gabor, ORB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Classifier: XGBoost + 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PLANT DOCTOR AI 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Technology Stack &amp;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3520440" cy="201168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  <a:p>
            <a:pPr algn="l">
              <a:defRPr sz="1200" b="0">
                <a:solidFill>
                  <a:srgbClr val="A7F3D0"/>
                </a:solidFill>
                <a:latin typeface="Segoe UI"/>
              </a:defRPr>
            </a:pPr>
            <a:r>
              <a:t>Streamlit · Plotly · HTML/CSS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691640"/>
            <a:ext cx="3520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74520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E293B"/>
                </a:solidFill>
                <a:latin typeface="Segoe UI"/>
              </a:defRPr>
            </a:pPr>
            <a:r>
              <a:t>Backend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FastAPI · Uvicorn · PyJWT · bcrypt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691640"/>
            <a:ext cx="3520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874520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E293B"/>
                </a:solidFill>
                <a:latin typeface="Segoe UI"/>
              </a:defRPr>
            </a:pPr>
            <a:r>
              <a:t>ML / CV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XGBoost · scikit-learn · OpenCV · HOG/LBP/GLCM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977639"/>
            <a:ext cx="3520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60519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E293B"/>
                </a:solidFill>
                <a:latin typeface="Segoe UI"/>
              </a:defRPr>
            </a:pPr>
            <a:r>
              <a:t>AI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Google Gemini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3977639"/>
            <a:ext cx="3520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160519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E293B"/>
                </a:solidFill>
                <a:latin typeface="Segoe UI"/>
              </a:defRPr>
            </a:pPr>
            <a:r>
              <a:t>Database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MySQL (Railway) · pymysql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3977639"/>
            <a:ext cx="352044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160519"/>
            <a:ext cx="3154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1E293B"/>
                </a:solidFill>
                <a:latin typeface="Segoe UI"/>
              </a:defRPr>
            </a:pPr>
            <a:r>
              <a:t>Deploy</a:t>
            </a:r>
          </a:p>
          <a:p>
            <a:pPr algn="l">
              <a:defRPr sz="1200" b="0">
                <a:solidFill>
                  <a:srgbClr val="64748B"/>
                </a:solidFill>
                <a:latin typeface="Segoe UI"/>
              </a:defRPr>
            </a:pPr>
            <a:r>
              <a:t>GitHub · Streamlit Cloud · Railway 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USER FLOW 👨‍🌾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The Farmer's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Segoe UI"/>
              </a:defRPr>
            </a:pPr>
            <a:r>
              <a:t>End-to-end demo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Register / Login on Streamlit app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Select crop or upload photo for auto-detection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XGBoost predicts disease with confidence %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Gemini AI writes Roman Urdu treatment steps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Scan saved to cloud — visible in Dashboard &amp; sidebar history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Optional: request Expert consultation for second opinion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ADMIN 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Admin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Segoe UI"/>
              </a:defRPr>
            </a:pPr>
            <a:r>
              <a:t>Role-based JWT — admin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Platform stats: total users, scans, diseases detected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Plotly charts: crop breakdown, disease trends, weekly activity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View all users and recent scans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Promote users to Expert role for consultations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560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ROADMAP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64E3B"/>
                </a:solidFill>
                <a:latin typeface="Segoe UI"/>
              </a:defRPr>
            </a:pPr>
            <a:r>
              <a:t>Conclusion &amp; Future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83564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10241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End-to-end AI crop doctor delivered for Pakistani farmers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4 crops · 18 diseases · cloud auth · scan history · expert chat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Future: Wheat, Rice, Cotton models · mobile PWA · offline Edge AI</a:t>
            </a:r>
          </a:p>
          <a:p>
            <a:pPr algn="l">
              <a:spcAft>
                <a:spcPts val="1200"/>
              </a:spcAft>
              <a:defRPr sz="1600" b="0">
                <a:solidFill>
                  <a:srgbClr val="1E293B"/>
                </a:solidFill>
                <a:latin typeface="Segoe UI"/>
              </a:defRPr>
            </a:pPr>
            <a:r>
              <a:t>▸  Regional disease heatmaps · full Urdu UI · drone field scanning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739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4748B"/>
                </a:solidFill>
                <a:latin typeface="Segoe UI"/>
              </a:defRPr>
            </a:pPr>
            <a:r>
              <a:t>Plant Doctor AI · Final Year Project · plantdoctorapp.streamlit.app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1200" b="0">
                <a:solidFill>
                  <a:srgbClr val="10B981"/>
                </a:solidFill>
                <a:latin typeface="Segoe UI"/>
              </a:defRPr>
            </a:pPr>
            <a:r>
              <a:t>Presented by</a:t>
            </a:r>
          </a:p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Saqlain Sajjad  ·  Roll No. 225218</a:t>
            </a:r>
          </a:p>
          <a:p>
            <a:pPr algn="ctr">
              <a:spcAft>
                <a:spcPts val="8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Raheel Chishti  ·  Roll No. 225186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800" b="0">
                <a:solidFill>
                  <a:srgbClr val="A7F3D0"/>
                </a:solidFill>
                <a:latin typeface="Segoe UI"/>
              </a:defRPr>
            </a:pPr>
            <a:r>
              <a:t>Empowering agriculture with the speed of AI.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🌐 plantdoctorapp.streamlit.app</a:t>
            </a:r>
          </a:p>
          <a:p>
            <a:pPr algn="ctr">
              <a:defRPr sz="1400" b="0">
                <a:solidFill>
                  <a:srgbClr val="A7F3D0"/>
                </a:solidFill>
                <a:latin typeface="Segoe UI"/>
              </a:defRPr>
            </a:pPr>
            <a:r>
              <a:t>Open for questions from the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