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10515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🌿 Plant Doctor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926080"/>
            <a:ext cx="10515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>
                <a:solidFill>
                  <a:srgbClr val="A7F3D0"/>
                </a:solidFill>
              </a:defRPr>
            </a:pPr>
            <a:r>
              <a:t>Pakistani Kisanon Ka AI Doctor — AI-Powered Crop Disease Detection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114800"/>
            <a:ext cx="1051560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FFFFFF"/>
                </a:solidFill>
              </a:defRPr>
            </a:pPr>
            <a:r>
              <a:t>Saqlain Sajjad  ·  Roll No. 225218  ·  Data Engineer</a:t>
            </a:r>
          </a:p>
          <a:p>
            <a:pPr algn="ctr">
              <a:defRPr sz="1800">
                <a:solidFill>
                  <a:srgbClr val="FFFFFF"/>
                </a:solidFill>
              </a:defRPr>
            </a:pPr>
            <a:r>
              <a:t>Raheel Chishti  ·  Roll No. 225186  ·  Team Member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669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i="1">
                <a:solidFill>
                  <a:srgbClr val="D97706"/>
                </a:solidFill>
              </a:defRPr>
            </a:pPr>
            <a:r>
              <a:t>Empowering Farmers, One Scan at a Time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234440"/>
            <a:ext cx="12191695" cy="562356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6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The Challenge in Modern Agriculture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17320"/>
            <a:ext cx="5486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800">
                <a:solidFill>
                  <a:srgbClr val="064E3B"/>
                </a:solidFill>
              </a:defRPr>
            </a:pPr>
            <a:r>
              <a:t>Problems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874519"/>
            <a:ext cx="5394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1F2937"/>
                </a:solidFill>
              </a:defRPr>
            </a:pPr>
            <a:r>
              <a:t>Late diagnosis — diseases spotted after major crop damage</a:t>
            </a:r>
          </a:p>
          <a:p>
            <a:pPr>
              <a:spcAft>
                <a:spcPts val="1000"/>
              </a:spcAft>
              <a:defRPr sz="1700">
                <a:solidFill>
                  <a:srgbClr val="1F2937"/>
                </a:solidFill>
              </a:defRPr>
            </a:pPr>
            <a:r>
              <a:t>Expert shortage in rural Punjab &amp; villages</a:t>
            </a:r>
          </a:p>
          <a:p>
            <a:pPr>
              <a:spcAft>
                <a:spcPts val="1000"/>
              </a:spcAft>
              <a:defRPr sz="1700">
                <a:solidFill>
                  <a:srgbClr val="1F2937"/>
                </a:solidFill>
              </a:defRPr>
            </a:pPr>
            <a:r>
              <a:t>Complex tools — no Urdu / Roman Urdu support</a:t>
            </a:r>
          </a:p>
          <a:p>
            <a:pPr>
              <a:spcAft>
                <a:spcPts val="1000"/>
              </a:spcAft>
              <a:defRPr sz="1700">
                <a:solidFill>
                  <a:srgbClr val="1F2937"/>
                </a:solidFill>
              </a:defRPr>
            </a:pPr>
            <a:r>
              <a:t>Farmers lose money; food security at risk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63640" y="1417320"/>
            <a:ext cx="5486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800">
                <a:solidFill>
                  <a:srgbClr val="064E3B"/>
                </a:solidFill>
              </a:defRPr>
            </a:pPr>
            <a:r>
              <a:t>Impact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63640" y="1874519"/>
            <a:ext cx="5394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1F2937"/>
                </a:solidFill>
              </a:defRPr>
            </a:pPr>
            <a:r>
              <a:t>Yield loss &amp; wasted pesticides</a:t>
            </a:r>
          </a:p>
          <a:p>
            <a:pPr>
              <a:spcAft>
                <a:spcPts val="1000"/>
              </a:spcAft>
              <a:defRPr sz="1700">
                <a:solidFill>
                  <a:srgbClr val="1F2937"/>
                </a:solidFill>
              </a:defRPr>
            </a:pPr>
            <a:r>
              <a:t>Delayed treatment increases cost</a:t>
            </a:r>
          </a:p>
          <a:p>
            <a:pPr>
              <a:spcAft>
                <a:spcPts val="1000"/>
              </a:spcAft>
              <a:defRPr sz="1700">
                <a:solidFill>
                  <a:srgbClr val="1F2937"/>
                </a:solidFill>
              </a:defRPr>
            </a:pPr>
            <a:r>
              <a:t>Small farmers cannot afford consultants</a:t>
            </a:r>
          </a:p>
          <a:p>
            <a:pPr>
              <a:spcAft>
                <a:spcPts val="1000"/>
              </a:spcAft>
              <a:defRPr sz="1700">
                <a:solidFill>
                  <a:srgbClr val="1F2937"/>
                </a:solidFill>
              </a:defRPr>
            </a:pPr>
            <a:r>
              <a:t>National agriculture productivity suffers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374151"/>
                </a:solidFill>
              </a:defRPr>
            </a:pPr>
            <a:r>
              <a:t>Plant Doctor AI · FYP 2025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234440"/>
            <a:ext cx="12191695" cy="562356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6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Our Solution — The AI Doctor for Plants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50876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1F2937"/>
                </a:solidFill>
              </a:defRPr>
            </a:pPr>
            <a:r>
              <a:t>Smartphone-friendly web app — no app store needed</a:t>
            </a:r>
          </a:p>
          <a:p>
            <a:pPr>
              <a:spcAft>
                <a:spcPts val="1000"/>
              </a:spcAft>
              <a:defRPr sz="2000">
                <a:solidFill>
                  <a:srgbClr val="1F2937"/>
                </a:solidFill>
              </a:defRPr>
            </a:pPr>
            <a:r>
              <a:t>Upload leaf photo → diagnosis in under 3 seconds</a:t>
            </a:r>
          </a:p>
          <a:p>
            <a:pPr>
              <a:spcAft>
                <a:spcPts val="1000"/>
              </a:spcAft>
              <a:defRPr sz="2000">
                <a:solidFill>
                  <a:srgbClr val="1F2937"/>
                </a:solidFill>
              </a:defRPr>
            </a:pPr>
            <a:r>
              <a:t>Roman Urdu + Urdu treatment advice via Google Gemini AI</a:t>
            </a:r>
          </a:p>
          <a:p>
            <a:pPr>
              <a:spcAft>
                <a:spcPts val="1000"/>
              </a:spcAft>
              <a:defRPr sz="2000">
                <a:solidFill>
                  <a:srgbClr val="1F2937"/>
                </a:solidFill>
              </a:defRPr>
            </a:pPr>
            <a:r>
              <a:t>Live Lahore weather widget for safe spray timing</a:t>
            </a:r>
          </a:p>
          <a:p>
            <a:pPr>
              <a:spcAft>
                <a:spcPts val="1000"/>
              </a:spcAft>
              <a:defRPr sz="2000">
                <a:solidFill>
                  <a:srgbClr val="1F2937"/>
                </a:solidFill>
              </a:defRPr>
            </a:pPr>
            <a:r>
              <a:t>Expert chat for farmer ↔ agricultural expert support</a:t>
            </a:r>
          </a:p>
          <a:p>
            <a:pPr>
              <a:spcAft>
                <a:spcPts val="1000"/>
              </a:spcAft>
              <a:defRPr sz="2000">
                <a:solidFill>
                  <a:srgbClr val="1F2937"/>
                </a:solidFill>
              </a:defRPr>
            </a:pPr>
            <a:r>
              <a:t>Live: plantdoctorapp.streamlit.app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374151"/>
                </a:solidFill>
              </a:defRPr>
            </a:pPr>
            <a:r>
              <a:t>Plant Doctor AI · FYP 2025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234440"/>
            <a:ext cx="12191695" cy="562356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6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System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50876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1F2937"/>
                </a:solidFill>
              </a:defRPr>
            </a:pPr>
            <a:r>
              <a:t>Frontend: Streamlit Cloud + custom CSS (glassmorphism UI)</a:t>
            </a:r>
          </a:p>
          <a:p>
            <a:pPr>
              <a:spcAft>
                <a:spcPts val="1000"/>
              </a:spcAft>
              <a:defRPr sz="2000">
                <a:solidFill>
                  <a:srgbClr val="1F2937"/>
                </a:solidFill>
              </a:defRPr>
            </a:pPr>
            <a:r>
              <a:t>REST API: FastAPI on Railway.app (JWT, bcrypt, rate limits)</a:t>
            </a:r>
          </a:p>
          <a:p>
            <a:pPr>
              <a:spcAft>
                <a:spcPts val="1000"/>
              </a:spcAft>
              <a:defRPr sz="2000">
                <a:solidFill>
                  <a:srgbClr val="1F2937"/>
                </a:solidFill>
              </a:defRPr>
            </a:pPr>
            <a:r>
              <a:t>Database: MySQL on Railway (users, scans, consultations, diseases)</a:t>
            </a:r>
          </a:p>
          <a:p>
            <a:pPr>
              <a:spcAft>
                <a:spcPts val="1000"/>
              </a:spcAft>
              <a:defRPr sz="2000">
                <a:solidFill>
                  <a:srgbClr val="1F2937"/>
                </a:solidFill>
              </a:defRPr>
            </a:pPr>
            <a:r>
              <a:t>ML Inference: XGBoost .pkl models loaded in Streamlit (&lt;3s)</a:t>
            </a:r>
          </a:p>
          <a:p>
            <a:pPr>
              <a:spcAft>
                <a:spcPts val="1000"/>
              </a:spcAft>
              <a:defRPr sz="2000">
                <a:solidFill>
                  <a:srgbClr val="1F2937"/>
                </a:solidFill>
              </a:defRPr>
            </a:pPr>
            <a:r>
              <a:t>Generative AI: Gemini API for farmer-friendly advice text</a:t>
            </a:r>
          </a:p>
          <a:p>
            <a:pPr>
              <a:spcAft>
                <a:spcPts val="1000"/>
              </a:spcAft>
              <a:defRPr sz="2000">
                <a:solidFill>
                  <a:srgbClr val="1F2937"/>
                </a:solidFill>
              </a:defRPr>
            </a:pPr>
            <a:r>
              <a:t>Email: SMTP / Resend for optional account verification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374151"/>
                </a:solidFill>
              </a:defRPr>
            </a:pPr>
            <a:r>
              <a:t>Plant Doctor AI · FYP 2025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234440"/>
            <a:ext cx="12191695" cy="562356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6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Machine Learning Engine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50876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1F2937"/>
                </a:solidFill>
              </a:defRPr>
            </a:pPr>
            <a:r>
              <a:t>Dataset: 74,000+ labeled crop leaf images</a:t>
            </a:r>
          </a:p>
          <a:p>
            <a:pPr>
              <a:spcAft>
                <a:spcPts val="1000"/>
              </a:spcAft>
              <a:defRPr sz="2000">
                <a:solidFill>
                  <a:srgbClr val="1F2937"/>
                </a:solidFill>
              </a:defRPr>
            </a:pPr>
            <a:r>
              <a:t>Models: Custom XGBoost + Random Forest classifiers (v3 .pkl)</a:t>
            </a:r>
          </a:p>
          <a:p>
            <a:pPr>
              <a:spcAft>
                <a:spcPts val="1000"/>
              </a:spcAft>
              <a:defRPr sz="2000">
                <a:solidFill>
                  <a:srgbClr val="1F2937"/>
                </a:solidFill>
              </a:defRPr>
            </a:pPr>
            <a:r>
              <a:t>Classical CV features: HOG, LBP, GLCM, Gabor filters, ORB</a:t>
            </a:r>
          </a:p>
          <a:p>
            <a:pPr>
              <a:spcAft>
                <a:spcPts val="1000"/>
              </a:spcAft>
              <a:defRPr sz="2000">
                <a:solidFill>
                  <a:srgbClr val="1F2937"/>
                </a:solidFill>
              </a:defRPr>
            </a:pPr>
            <a:r>
              <a:t>Auto crop detection before disease classification</a:t>
            </a:r>
          </a:p>
          <a:p>
            <a:pPr>
              <a:spcAft>
                <a:spcPts val="1000"/>
              </a:spcAft>
              <a:defRPr sz="2000">
                <a:solidFill>
                  <a:srgbClr val="1F2937"/>
                </a:solidFill>
              </a:defRPr>
            </a:pPr>
            <a:r>
              <a:t>Compressed models for fast edge inference on Streamlit</a:t>
            </a:r>
          </a:p>
          <a:p>
            <a:pPr>
              <a:spcAft>
                <a:spcPts val="1000"/>
              </a:spcAft>
              <a:defRPr sz="2000">
                <a:solidFill>
                  <a:srgbClr val="1F2937"/>
                </a:solidFill>
              </a:defRPr>
            </a:pPr>
            <a:r>
              <a:t>Confusion matrices &amp; reports saved per crop training script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374151"/>
                </a:solidFill>
              </a:defRPr>
            </a:pPr>
            <a:r>
              <a:t>Plant Doctor AI · FYP 2025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234440"/>
            <a:ext cx="12191695" cy="562356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6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Supported Crops &amp; 18 Disease Classes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50876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1F2937"/>
                </a:solidFill>
              </a:defRPr>
            </a:pPr>
            <a:r>
              <a:t>🥔 Potato (3 classes) — Test 99%: Early Blight, Late Blight, Healthy</a:t>
            </a:r>
          </a:p>
          <a:p>
            <a:pPr>
              <a:spcAft>
                <a:spcPts val="1000"/>
              </a:spcAft>
              <a:defRPr sz="2000">
                <a:solidFill>
                  <a:srgbClr val="1F2937"/>
                </a:solidFill>
              </a:defRPr>
            </a:pPr>
            <a:r>
              <a:t>🍅 Tomato (9 classes) — Test 87%: Bacterial Spot, Early/Late Blight, Leaf Mold, Septoria, Target Spot, YLCV, Mosaic, Healthy</a:t>
            </a:r>
          </a:p>
          <a:p>
            <a:pPr>
              <a:spcAft>
                <a:spcPts val="1000"/>
              </a:spcAft>
              <a:defRPr sz="2000">
                <a:solidFill>
                  <a:srgbClr val="1F2937"/>
                </a:solidFill>
              </a:defRPr>
            </a:pPr>
            <a:r>
              <a:t>🫑 Pepper (2 classes) — Test 98%: Bacterial Spot, Healthy</a:t>
            </a:r>
          </a:p>
          <a:p>
            <a:pPr>
              <a:spcAft>
                <a:spcPts val="1000"/>
              </a:spcAft>
              <a:defRPr sz="2000">
                <a:solidFill>
                  <a:srgbClr val="1F2937"/>
                </a:solidFill>
              </a:defRPr>
            </a:pPr>
            <a:r>
              <a:t>🌽 Corn (4 classes) — Test 99%: Blight, Common Rust, Gray Leaf Spot, Healthy</a:t>
            </a:r>
          </a:p>
          <a:p>
            <a:pPr>
              <a:spcAft>
                <a:spcPts val="1000"/>
              </a:spcAft>
              <a:defRPr sz="2000">
                <a:solidFill>
                  <a:srgbClr val="1F2937"/>
                </a:solidFill>
              </a:defRPr>
            </a:pPr>
            <a:r>
              <a:t>Total: 18 disease classes · Roman Urdu names in UI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374151"/>
                </a:solidFill>
              </a:defRPr>
            </a:pPr>
            <a:r>
              <a:t>Plant Doctor AI · FYP 2025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234440"/>
            <a:ext cx="12191695" cy="562356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6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Key Platform Features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50876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1F2937"/>
                </a:solidFill>
              </a:defRPr>
            </a:pPr>
            <a:r>
              <a:t>🔐 Secure JWT auth, roles: Farmer, Expert, Admin</a:t>
            </a:r>
          </a:p>
          <a:p>
            <a:pPr>
              <a:spcAft>
                <a:spcPts val="1000"/>
              </a:spcAft>
              <a:defRPr sz="2000">
                <a:solidFill>
                  <a:srgbClr val="1F2937"/>
                </a:solidFill>
              </a:defRPr>
            </a:pPr>
            <a:r>
              <a:t>🔬 AI Quick Scan with confidence score &amp; scan history</a:t>
            </a:r>
          </a:p>
          <a:p>
            <a:pPr>
              <a:spcAft>
                <a:spcPts val="1000"/>
              </a:spcAft>
              <a:defRPr sz="2000">
                <a:solidFill>
                  <a:srgbClr val="1F2937"/>
                </a:solidFill>
              </a:defRPr>
            </a:pPr>
            <a:r>
              <a:t>👨‍⚕️ AI Doctor advice (Gemini) saved to MySQL per scan</a:t>
            </a:r>
          </a:p>
          <a:p>
            <a:pPr>
              <a:spcAft>
                <a:spcPts val="1000"/>
              </a:spcAft>
              <a:defRPr sz="2000">
                <a:solidFill>
                  <a:srgbClr val="1F2937"/>
                </a:solidFill>
              </a:defRPr>
            </a:pPr>
            <a:r>
              <a:t>🌧️ Open-Meteo weather (temperature, wind, humidity)</a:t>
            </a:r>
          </a:p>
          <a:p>
            <a:pPr>
              <a:spcAft>
                <a:spcPts val="1000"/>
              </a:spcAft>
              <a:defRPr sz="2000">
                <a:solidFill>
                  <a:srgbClr val="1F2937"/>
                </a:solidFill>
              </a:defRPr>
            </a:pPr>
            <a:r>
              <a:t>💬 Expert consultation requests</a:t>
            </a:r>
          </a:p>
          <a:p>
            <a:pPr>
              <a:spcAft>
                <a:spcPts val="1000"/>
              </a:spcAft>
              <a:defRPr sz="2000">
                <a:solidFill>
                  <a:srgbClr val="1F2937"/>
                </a:solidFill>
              </a:defRPr>
            </a:pPr>
            <a:r>
              <a:t>📊 User dashboard — Plotly charts, crop &amp; disease analytics</a:t>
            </a:r>
          </a:p>
          <a:p>
            <a:pPr>
              <a:spcAft>
                <a:spcPts val="1000"/>
              </a:spcAft>
              <a:defRPr sz="2000">
                <a:solidFill>
                  <a:srgbClr val="1F2937"/>
                </a:solidFill>
              </a:defRPr>
            </a:pPr>
            <a:r>
              <a:t>🛡️ Admin panel — users, scans, platform stats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374151"/>
                </a:solidFill>
              </a:defRPr>
            </a:pPr>
            <a:r>
              <a:t>Plant Doctor AI · FYP 2025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234440"/>
            <a:ext cx="12191695" cy="562356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6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Database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50876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1F2937"/>
                </a:solidFill>
              </a:defRPr>
            </a:pPr>
            <a:r>
              <a:t>Cloud MySQL (Railway) — production</a:t>
            </a:r>
          </a:p>
          <a:p>
            <a:pPr>
              <a:spcAft>
                <a:spcPts val="1000"/>
              </a:spcAft>
              <a:defRPr sz="2000">
                <a:solidFill>
                  <a:srgbClr val="1F2937"/>
                </a:solidFill>
              </a:defRPr>
            </a:pPr>
            <a:r>
              <a:t>SQL Server — optional local dev (agnostic query wrapper)</a:t>
            </a:r>
          </a:p>
          <a:p>
            <a:pPr>
              <a:spcAft>
                <a:spcPts val="1000"/>
              </a:spcAft>
              <a:defRPr sz="2000">
                <a:solidFill>
                  <a:srgbClr val="1F2937"/>
                </a:solidFill>
              </a:defRPr>
            </a:pPr>
            <a:r>
              <a:t>Table: users — auth, roles, email verification</a:t>
            </a:r>
          </a:p>
          <a:p>
            <a:pPr>
              <a:spcAft>
                <a:spcPts val="1000"/>
              </a:spcAft>
              <a:defRPr sz="2000">
                <a:solidFill>
                  <a:srgbClr val="1F2937"/>
                </a:solidFill>
              </a:defRPr>
            </a:pPr>
            <a:r>
              <a:t>Table: scans — crop, disease, confidence, ai_advice, image (base64 JPEG)</a:t>
            </a:r>
          </a:p>
          <a:p>
            <a:pPr>
              <a:spcAft>
                <a:spcPts val="1000"/>
              </a:spcAft>
              <a:defRPr sz="2000">
                <a:solidFill>
                  <a:srgbClr val="1F2937"/>
                </a:solidFill>
              </a:defRPr>
            </a:pPr>
            <a:r>
              <a:t>Table: consultations — farmer ↔ expert messages</a:t>
            </a:r>
          </a:p>
          <a:p>
            <a:pPr>
              <a:spcAft>
                <a:spcPts val="1000"/>
              </a:spcAft>
              <a:defRPr sz="2000">
                <a:solidFill>
                  <a:srgbClr val="1F2937"/>
                </a:solidFill>
              </a:defRPr>
            </a:pPr>
            <a:r>
              <a:t>Table: diseases — knowledge base (symptoms, treatment, prevention)</a:t>
            </a:r>
          </a:p>
          <a:p>
            <a:pPr>
              <a:spcAft>
                <a:spcPts val="1000"/>
              </a:spcAft>
              <a:defRPr sz="2000">
                <a:solidFill>
                  <a:srgbClr val="1F2937"/>
                </a:solidFill>
              </a:defRPr>
            </a:pPr>
            <a:r>
              <a:t>Relational design for history, analytics &amp; admin reporting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374151"/>
                </a:solidFill>
              </a:defRPr>
            </a:pPr>
            <a:r>
              <a:t>Plant Doctor AI · FYP 2025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234440"/>
            <a:ext cx="12191695" cy="562356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6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Results &amp; Model Accuracy (v3 XGBoost)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04672"/>
            <a:ext cx="11155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A7F3D0"/>
                </a:solidFill>
              </a:defRPr>
            </a:pPr>
            <a:r>
              <a:t>18 disease classes total · 74,000+ training images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600200"/>
            <a:ext cx="2697480" cy="3063240"/>
          </a:xfrm>
          <a:prstGeom prst="rect">
            <a:avLst/>
          </a:prstGeom>
          <a:solidFill>
            <a:srgbClr val="FFFFFF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064E3B"/>
                </a:solidFill>
              </a:defRPr>
            </a:pPr>
            <a:r>
              <a:t>🥔 Potato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87168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0">
                <a:solidFill>
                  <a:srgbClr val="374151"/>
                </a:solidFill>
              </a:defRPr>
            </a:pPr>
            <a:r>
              <a:t>3 disease classes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962656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59669"/>
                </a:solidFill>
              </a:defRPr>
            </a:pPr>
            <a:r>
              <a:t>Test accuracy: 99%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621024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0">
                <a:solidFill>
                  <a:srgbClr val="374151"/>
                </a:solidFill>
              </a:defRPr>
            </a:pPr>
            <a:r>
              <a:t>Train: —  ·  CV: 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096512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0">
                <a:solidFill>
                  <a:srgbClr val="374151"/>
                </a:solidFill>
              </a:defRPr>
            </a:pPr>
            <a:r>
              <a:t>Minimal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83280" y="1600200"/>
            <a:ext cx="2697480" cy="3063240"/>
          </a:xfrm>
          <a:prstGeom prst="rect">
            <a:avLst/>
          </a:prstGeom>
          <a:solidFill>
            <a:srgbClr val="FFFFFF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20440" y="182880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064E3B"/>
                </a:solidFill>
              </a:defRPr>
            </a:pPr>
            <a:r>
              <a:t>🍅 Tomato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0440" y="2487168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0">
                <a:solidFill>
                  <a:srgbClr val="374151"/>
                </a:solidFill>
              </a:defRPr>
            </a:pPr>
            <a:r>
              <a:t>9 disease classes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0440" y="2962656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D97706"/>
                </a:solidFill>
              </a:defRPr>
            </a:pPr>
            <a:r>
              <a:t>Test accuracy: 87%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0440" y="3621024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0">
                <a:solidFill>
                  <a:srgbClr val="374151"/>
                </a:solidFill>
              </a:defRPr>
            </a:pPr>
            <a:r>
              <a:t>Train: 94%  ·  CV: 84%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20440" y="4096512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0">
                <a:solidFill>
                  <a:srgbClr val="374151"/>
                </a:solidFill>
              </a:defRPr>
            </a:pPr>
            <a:r>
              <a:t>7% (acceptable)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63640" y="1600200"/>
            <a:ext cx="2697480" cy="3063240"/>
          </a:xfrm>
          <a:prstGeom prst="rect">
            <a:avLst/>
          </a:prstGeom>
          <a:solidFill>
            <a:srgbClr val="FFFFFF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182880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064E3B"/>
                </a:solidFill>
              </a:defRPr>
            </a:pPr>
            <a:r>
              <a:t>🫑 Pepper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2487168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0">
                <a:solidFill>
                  <a:srgbClr val="374151"/>
                </a:solidFill>
              </a:defRPr>
            </a:pPr>
            <a:r>
              <a:t>2 disease classes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2962656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59669"/>
                </a:solidFill>
              </a:defRPr>
            </a:pPr>
            <a:r>
              <a:t>Test accuracy: 98%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3621024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0">
                <a:solidFill>
                  <a:srgbClr val="374151"/>
                </a:solidFill>
              </a:defRPr>
            </a:pPr>
            <a:r>
              <a:t>Train: 100%  ·  CV: 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4096512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0">
                <a:solidFill>
                  <a:srgbClr val="374151"/>
                </a:solidFill>
              </a:defRPr>
            </a:pPr>
            <a:r>
              <a:t>1.6% (no overfitting)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144000" y="1600200"/>
            <a:ext cx="2697480" cy="3063240"/>
          </a:xfrm>
          <a:prstGeom prst="rect">
            <a:avLst/>
          </a:prstGeom>
          <a:solidFill>
            <a:srgbClr val="FFFFFF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81160" y="182880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064E3B"/>
                </a:solidFill>
              </a:defRPr>
            </a:pPr>
            <a:r>
              <a:t>🌽 Corn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81160" y="2487168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0">
                <a:solidFill>
                  <a:srgbClr val="374151"/>
                </a:solidFill>
              </a:defRPr>
            </a:pPr>
            <a:r>
              <a:t>4 disease classes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81160" y="2962656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59669"/>
                </a:solidFill>
              </a:defRPr>
            </a:pPr>
            <a:r>
              <a:t>Test accuracy: 99%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81160" y="3621024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0">
                <a:solidFill>
                  <a:srgbClr val="374151"/>
                </a:solidFill>
              </a:defRPr>
            </a:pPr>
            <a:r>
              <a:t>Train: 100%  ·  CV: 98%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81160" y="4096512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0">
                <a:solidFill>
                  <a:srgbClr val="374151"/>
                </a:solidFill>
              </a:defRPr>
            </a:pPr>
            <a:r>
              <a:t>1.2% (no overfitting)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" y="480060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1F2937"/>
                </a:solidFill>
              </a:defRPr>
            </a:pPr>
            <a:r>
              <a:t>🥔 Potato 3 + 🍅 Tomato 9 + 🫑 Pepper 2 + 🌽 Corn 4 = 18 classes</a:t>
            </a:r>
          </a:p>
          <a:p>
            <a:pPr>
              <a:spcAft>
                <a:spcPts val="1000"/>
              </a:spcAft>
              <a:defRPr sz="1600">
                <a:solidFill>
                  <a:srgbClr val="1F2937"/>
                </a:solidFill>
              </a:defRPr>
            </a:pPr>
            <a:r>
              <a:t>Tomato hardest (9 classes, real-field variation); Potato/Pepper/Corn 98–99% test</a:t>
            </a:r>
          </a:p>
          <a:p>
            <a:pPr>
              <a:spcAft>
                <a:spcPts val="1000"/>
              </a:spcAft>
              <a:defRPr sz="1600">
                <a:solidFill>
                  <a:srgbClr val="1F2937"/>
                </a:solidFill>
              </a:defRPr>
            </a:pPr>
            <a:r>
              <a:t>Inference &lt; 3 seconds per scan · .pkl models deployed on Streamlit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374151"/>
                </a:solidFill>
              </a:defRPr>
            </a:pPr>
            <a:r>
              <a:t>Plant Doctor AI · FYP 2025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234440"/>
            <a:ext cx="12191695" cy="562356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6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v3 Confusion Matrices — All 4 Models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04672"/>
            <a:ext cx="11155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A7F3D0"/>
                </a:solidFill>
              </a:defRPr>
            </a:pPr>
            <a:r>
              <a:t>Test-set predictions vs actual labels</a:t>
            </a:r>
          </a:p>
        </p:txBody>
      </p:sp>
      <p:pic>
        <p:nvPicPr>
          <p:cNvPr id="6" name="Picture 5" descr="potato_v3_confus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5623560" cy="421767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3721607"/>
            <a:ext cx="56235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064E3B"/>
                </a:solidFill>
              </a:defRPr>
            </a:pPr>
            <a:r>
              <a:t>🥔 Potato · 3 classes · Test 99%</a:t>
            </a:r>
          </a:p>
        </p:txBody>
      </p:sp>
      <p:pic>
        <p:nvPicPr>
          <p:cNvPr id="8" name="Picture 7" descr="tomato_v3_confusion_matri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371600"/>
            <a:ext cx="5623560" cy="401682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172200" y="3721607"/>
            <a:ext cx="56235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064E3B"/>
                </a:solidFill>
              </a:defRPr>
            </a:pPr>
            <a:r>
              <a:t>🍅 Tomato · 9 classes · Test 87%</a:t>
            </a:r>
          </a:p>
        </p:txBody>
      </p:sp>
      <p:pic>
        <p:nvPicPr>
          <p:cNvPr id="10" name="Picture 9" descr="pepper_v3_confusion_matri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3886200"/>
            <a:ext cx="5623560" cy="421767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65760" y="6236207"/>
            <a:ext cx="56235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064E3B"/>
                </a:solidFill>
              </a:defRPr>
            </a:pPr>
            <a:r>
              <a:t>🫑 Pepper · 2 classes · Test 98%</a:t>
            </a:r>
          </a:p>
        </p:txBody>
      </p:sp>
      <p:pic>
        <p:nvPicPr>
          <p:cNvPr id="12" name="Picture 11" descr="corn_v3_confusion_matrix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2200" y="3886200"/>
            <a:ext cx="5623560" cy="43738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172200" y="6236207"/>
            <a:ext cx="56235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064E3B"/>
                </a:solidFill>
              </a:defRPr>
            </a:pPr>
            <a:r>
              <a:t>🌽 Corn · 4 classes · Test 99%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374151"/>
                </a:solidFill>
              </a:defRPr>
            </a:pPr>
            <a:r>
              <a:t>Plant Doctor AI · FYP 2025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234440"/>
            <a:ext cx="12191695" cy="562356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6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🥔 Potato Model — v3 XGBoost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04672"/>
            <a:ext cx="11155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A7F3D0"/>
                </a:solidFill>
              </a:defRPr>
            </a:pPr>
            <a:r>
              <a:t>3 disease classes · potato_disease_model_v3.pkl</a:t>
            </a:r>
          </a:p>
        </p:txBody>
      </p:sp>
      <p:pic>
        <p:nvPicPr>
          <p:cNvPr id="6" name="Picture 5" descr="potato_v3_confus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17320"/>
            <a:ext cx="6522720" cy="48920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0" y="160020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1F2937"/>
                </a:solidFill>
              </a:defRPr>
            </a:pPr>
            <a:r>
              <a:t>• Classes (3): Early Blight, Late Blight, Healthy</a:t>
            </a:r>
          </a:p>
          <a:p>
            <a:pPr>
              <a:spcAft>
                <a:spcPts val="800"/>
              </a:spcAft>
              <a:defRPr sz="1700">
                <a:solidFill>
                  <a:srgbClr val="1F2937"/>
                </a:solidFill>
              </a:defRPr>
            </a:pPr>
            <a:r>
              <a:t>• Test accuracy: 99%</a:t>
            </a:r>
          </a:p>
          <a:p>
            <a:pPr>
              <a:spcAft>
                <a:spcPts val="800"/>
              </a:spcAft>
              <a:defRPr sz="1700">
                <a:solidFill>
                  <a:srgbClr val="1F2937"/>
                </a:solidFill>
              </a:defRPr>
            </a:pPr>
            <a:r>
              <a:t>• Train accuracy: —</a:t>
            </a:r>
          </a:p>
          <a:p>
            <a:pPr>
              <a:spcAft>
                <a:spcPts val="800"/>
              </a:spcAft>
              <a:defRPr sz="1700">
                <a:solidFill>
                  <a:srgbClr val="1F2937"/>
                </a:solidFill>
              </a:defRPr>
            </a:pPr>
            <a:r>
              <a:t>• 5-Fold CV: —</a:t>
            </a:r>
          </a:p>
          <a:p>
            <a:pPr>
              <a:spcAft>
                <a:spcPts val="800"/>
              </a:spcAft>
              <a:defRPr sz="1700">
                <a:solidFill>
                  <a:srgbClr val="1F2937"/>
                </a:solidFill>
              </a:defRPr>
            </a:pPr>
            <a:r>
              <a:t>• Generalization: Minimal</a:t>
            </a:r>
          </a:p>
          <a:p>
            <a:pPr>
              <a:spcAft>
                <a:spcPts val="800"/>
              </a:spcAft>
              <a:defRPr sz="1700">
                <a:solidFill>
                  <a:srgbClr val="1F2937"/>
                </a:solidFill>
              </a:defRPr>
            </a:pPr>
            <a:r>
              <a:t>• Features: HOG, LBP, GLCM, Gabor, ORB</a:t>
            </a:r>
          </a:p>
          <a:p>
            <a:pPr>
              <a:spcAft>
                <a:spcPts val="800"/>
              </a:spcAft>
              <a:defRPr sz="1700">
                <a:solidFill>
                  <a:srgbClr val="1F2937"/>
                </a:solidFill>
              </a:defRPr>
            </a:pPr>
            <a:r>
              <a:t>• Classifier: XGBoost + Random Forest ensemble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374151"/>
                </a:solidFill>
              </a:defRPr>
            </a:pPr>
            <a:r>
              <a:t>Plant Doctor AI · FYP 2025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234440"/>
            <a:ext cx="12191695" cy="562356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6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🍅 Tomato Model — v3 XGBoost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04672"/>
            <a:ext cx="11155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A7F3D0"/>
                </a:solidFill>
              </a:defRPr>
            </a:pPr>
            <a:r>
              <a:t>9 disease classes · tomato_disease_model_v3.pkl</a:t>
            </a:r>
          </a:p>
        </p:txBody>
      </p:sp>
      <p:pic>
        <p:nvPicPr>
          <p:cNvPr id="6" name="Picture 5" descr="tomato_v3_confus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17320"/>
            <a:ext cx="6848856" cy="48920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0" y="160020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1F2937"/>
                </a:solidFill>
              </a:defRPr>
            </a:pPr>
            <a:r>
              <a:t>• Classes (9): Bacterial Spot, Early/Late Blight, Leaf Mold, Septoria, Target Spot, YLCV, Mosaic, Healthy</a:t>
            </a:r>
          </a:p>
          <a:p>
            <a:pPr>
              <a:spcAft>
                <a:spcPts val="800"/>
              </a:spcAft>
              <a:defRPr sz="1700">
                <a:solidFill>
                  <a:srgbClr val="1F2937"/>
                </a:solidFill>
              </a:defRPr>
            </a:pPr>
            <a:r>
              <a:t>• Test accuracy: 87%</a:t>
            </a:r>
          </a:p>
          <a:p>
            <a:pPr>
              <a:spcAft>
                <a:spcPts val="800"/>
              </a:spcAft>
              <a:defRPr sz="1700">
                <a:solidFill>
                  <a:srgbClr val="1F2937"/>
                </a:solidFill>
              </a:defRPr>
            </a:pPr>
            <a:r>
              <a:t>• Train accuracy: 94%</a:t>
            </a:r>
          </a:p>
          <a:p>
            <a:pPr>
              <a:spcAft>
                <a:spcPts val="800"/>
              </a:spcAft>
              <a:defRPr sz="1700">
                <a:solidFill>
                  <a:srgbClr val="1F2937"/>
                </a:solidFill>
              </a:defRPr>
            </a:pPr>
            <a:r>
              <a:t>• 5-Fold CV: 84%</a:t>
            </a:r>
          </a:p>
          <a:p>
            <a:pPr>
              <a:spcAft>
                <a:spcPts val="800"/>
              </a:spcAft>
              <a:defRPr sz="1700">
                <a:solidFill>
                  <a:srgbClr val="1F2937"/>
                </a:solidFill>
              </a:defRPr>
            </a:pPr>
            <a:r>
              <a:t>• Generalization: 7% (acceptable)</a:t>
            </a:r>
          </a:p>
          <a:p>
            <a:pPr>
              <a:spcAft>
                <a:spcPts val="800"/>
              </a:spcAft>
              <a:defRPr sz="1700">
                <a:solidFill>
                  <a:srgbClr val="1F2937"/>
                </a:solidFill>
              </a:defRPr>
            </a:pPr>
            <a:r>
              <a:t>• Features: HOG, LBP, GLCM, Gabor, ORB</a:t>
            </a:r>
          </a:p>
          <a:p>
            <a:pPr>
              <a:spcAft>
                <a:spcPts val="800"/>
              </a:spcAft>
              <a:defRPr sz="1700">
                <a:solidFill>
                  <a:srgbClr val="1F2937"/>
                </a:solidFill>
              </a:defRPr>
            </a:pPr>
            <a:r>
              <a:t>• Classifier: XGBoost + Random Forest ensemble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374151"/>
                </a:solidFill>
              </a:defRPr>
            </a:pPr>
            <a:r>
              <a:t>Plant Doctor AI · FYP 2025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234440"/>
            <a:ext cx="12191695" cy="562356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6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🫑 Pepper Model — v3 XGBoost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04672"/>
            <a:ext cx="11155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A7F3D0"/>
                </a:solidFill>
              </a:defRPr>
            </a:pPr>
            <a:r>
              <a:t>2 disease classes · pepper_disease_model_v3.pkl</a:t>
            </a:r>
          </a:p>
        </p:txBody>
      </p:sp>
      <p:pic>
        <p:nvPicPr>
          <p:cNvPr id="6" name="Picture 5" descr="pepper_v3_confus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17320"/>
            <a:ext cx="6522720" cy="48920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0" y="160020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1F2937"/>
                </a:solidFill>
              </a:defRPr>
            </a:pPr>
            <a:r>
              <a:t>• Classes (2): Bacterial Spot, Healthy</a:t>
            </a:r>
          </a:p>
          <a:p>
            <a:pPr>
              <a:spcAft>
                <a:spcPts val="800"/>
              </a:spcAft>
              <a:defRPr sz="1700">
                <a:solidFill>
                  <a:srgbClr val="1F2937"/>
                </a:solidFill>
              </a:defRPr>
            </a:pPr>
            <a:r>
              <a:t>• Test accuracy: 98%</a:t>
            </a:r>
          </a:p>
          <a:p>
            <a:pPr>
              <a:spcAft>
                <a:spcPts val="800"/>
              </a:spcAft>
              <a:defRPr sz="1700">
                <a:solidFill>
                  <a:srgbClr val="1F2937"/>
                </a:solidFill>
              </a:defRPr>
            </a:pPr>
            <a:r>
              <a:t>• Train accuracy: 100%</a:t>
            </a:r>
          </a:p>
          <a:p>
            <a:pPr>
              <a:spcAft>
                <a:spcPts val="800"/>
              </a:spcAft>
              <a:defRPr sz="1700">
                <a:solidFill>
                  <a:srgbClr val="1F2937"/>
                </a:solidFill>
              </a:defRPr>
            </a:pPr>
            <a:r>
              <a:t>• 5-Fold CV: —</a:t>
            </a:r>
          </a:p>
          <a:p>
            <a:pPr>
              <a:spcAft>
                <a:spcPts val="800"/>
              </a:spcAft>
              <a:defRPr sz="1700">
                <a:solidFill>
                  <a:srgbClr val="1F2937"/>
                </a:solidFill>
              </a:defRPr>
            </a:pPr>
            <a:r>
              <a:t>• Generalization: 1.6% (no overfitting)</a:t>
            </a:r>
          </a:p>
          <a:p>
            <a:pPr>
              <a:spcAft>
                <a:spcPts val="800"/>
              </a:spcAft>
              <a:defRPr sz="1700">
                <a:solidFill>
                  <a:srgbClr val="1F2937"/>
                </a:solidFill>
              </a:defRPr>
            </a:pPr>
            <a:r>
              <a:t>• Features: HOG, LBP, GLCM, Gabor, ORB</a:t>
            </a:r>
          </a:p>
          <a:p>
            <a:pPr>
              <a:spcAft>
                <a:spcPts val="800"/>
              </a:spcAft>
              <a:defRPr sz="1700">
                <a:solidFill>
                  <a:srgbClr val="1F2937"/>
                </a:solidFill>
              </a:defRPr>
            </a:pPr>
            <a:r>
              <a:t>• Classifier: XGBoost + Random Forest ensemble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374151"/>
                </a:solidFill>
              </a:defRPr>
            </a:pPr>
            <a:r>
              <a:t>Plant Doctor AI · FYP 2025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234440"/>
            <a:ext cx="12191695" cy="562356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6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🌽 Corn Model — v3 XGBoost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04672"/>
            <a:ext cx="11155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A7F3D0"/>
                </a:solidFill>
              </a:defRPr>
            </a:pPr>
            <a:r>
              <a:t>4 disease classes · corn_disease_model_v3.pkl</a:t>
            </a:r>
          </a:p>
        </p:txBody>
      </p:sp>
      <p:pic>
        <p:nvPicPr>
          <p:cNvPr id="6" name="Picture 5" descr="corn_v3_confus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17320"/>
            <a:ext cx="6289766" cy="48920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0" y="160020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1F2937"/>
                </a:solidFill>
              </a:defRPr>
            </a:pPr>
            <a:r>
              <a:t>• Classes (4): Blight, Common Rust, Gray Leaf Spot, Healthy</a:t>
            </a:r>
          </a:p>
          <a:p>
            <a:pPr>
              <a:spcAft>
                <a:spcPts val="800"/>
              </a:spcAft>
              <a:defRPr sz="1700">
                <a:solidFill>
                  <a:srgbClr val="1F2937"/>
                </a:solidFill>
              </a:defRPr>
            </a:pPr>
            <a:r>
              <a:t>• Test accuracy: 99%</a:t>
            </a:r>
          </a:p>
          <a:p>
            <a:pPr>
              <a:spcAft>
                <a:spcPts val="800"/>
              </a:spcAft>
              <a:defRPr sz="1700">
                <a:solidFill>
                  <a:srgbClr val="1F2937"/>
                </a:solidFill>
              </a:defRPr>
            </a:pPr>
            <a:r>
              <a:t>• Train accuracy: 100%</a:t>
            </a:r>
          </a:p>
          <a:p>
            <a:pPr>
              <a:spcAft>
                <a:spcPts val="800"/>
              </a:spcAft>
              <a:defRPr sz="1700">
                <a:solidFill>
                  <a:srgbClr val="1F2937"/>
                </a:solidFill>
              </a:defRPr>
            </a:pPr>
            <a:r>
              <a:t>• 5-Fold CV: 98%</a:t>
            </a:r>
          </a:p>
          <a:p>
            <a:pPr>
              <a:spcAft>
                <a:spcPts val="800"/>
              </a:spcAft>
              <a:defRPr sz="1700">
                <a:solidFill>
                  <a:srgbClr val="1F2937"/>
                </a:solidFill>
              </a:defRPr>
            </a:pPr>
            <a:r>
              <a:t>• Generalization: 1.2% (no overfitting)</a:t>
            </a:r>
          </a:p>
          <a:p>
            <a:pPr>
              <a:spcAft>
                <a:spcPts val="800"/>
              </a:spcAft>
              <a:defRPr sz="1700">
                <a:solidFill>
                  <a:srgbClr val="1F2937"/>
                </a:solidFill>
              </a:defRPr>
            </a:pPr>
            <a:r>
              <a:t>• Features: HOG, LBP, GLCM, Gabor, ORB</a:t>
            </a:r>
          </a:p>
          <a:p>
            <a:pPr>
              <a:spcAft>
                <a:spcPts val="800"/>
              </a:spcAft>
              <a:defRPr sz="1700">
                <a:solidFill>
                  <a:srgbClr val="1F2937"/>
                </a:solidFill>
              </a:defRPr>
            </a:pPr>
            <a:r>
              <a:t>• Classifier: XGBoost + Random Forest ensemble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374151"/>
                </a:solidFill>
              </a:defRPr>
            </a:pPr>
            <a:r>
              <a:t>Plant Doctor AI · FYP 2025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234440"/>
            <a:ext cx="12191695" cy="562356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6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Technology Stack &amp; Deployment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50876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1F2937"/>
                </a:solidFill>
              </a:defRPr>
            </a:pPr>
            <a:r>
              <a:t>Languages: Python 3.10+</a:t>
            </a:r>
          </a:p>
          <a:p>
            <a:pPr>
              <a:spcAft>
                <a:spcPts val="1000"/>
              </a:spcAft>
              <a:defRPr sz="2000">
                <a:solidFill>
                  <a:srgbClr val="1F2937"/>
                </a:solidFill>
              </a:defRPr>
            </a:pPr>
            <a:r>
              <a:t>Frontend: Streamlit, Plotly, Custom HTML/CSS</a:t>
            </a:r>
          </a:p>
          <a:p>
            <a:pPr>
              <a:spcAft>
                <a:spcPts val="1000"/>
              </a:spcAft>
              <a:defRPr sz="2000">
                <a:solidFill>
                  <a:srgbClr val="1F2937"/>
                </a:solidFill>
              </a:defRPr>
            </a:pPr>
            <a:r>
              <a:t>Backend: FastAPI, Uvicorn, SlowAPI, PyJWT, bcrypt</a:t>
            </a:r>
          </a:p>
          <a:p>
            <a:pPr>
              <a:spcAft>
                <a:spcPts val="1000"/>
              </a:spcAft>
              <a:defRPr sz="2000">
                <a:solidFill>
                  <a:srgbClr val="1F2937"/>
                </a:solidFill>
              </a:defRPr>
            </a:pPr>
            <a:r>
              <a:t>ML: XGBoost, scikit-learn, OpenCV, scikit-image, joblib</a:t>
            </a:r>
          </a:p>
          <a:p>
            <a:pPr>
              <a:spcAft>
                <a:spcPts val="1000"/>
              </a:spcAft>
              <a:defRPr sz="2000">
                <a:solidFill>
                  <a:srgbClr val="1F2937"/>
                </a:solidFill>
              </a:defRPr>
            </a:pPr>
            <a:r>
              <a:t>AI: Google Gemini API</a:t>
            </a:r>
          </a:p>
          <a:p>
            <a:pPr>
              <a:spcAft>
                <a:spcPts val="1000"/>
              </a:spcAft>
              <a:defRPr sz="2000">
                <a:solidFill>
                  <a:srgbClr val="1F2937"/>
                </a:solidFill>
              </a:defRPr>
            </a:pPr>
            <a:r>
              <a:t>DB: MySQL (Railway), pymysql</a:t>
            </a:r>
          </a:p>
          <a:p>
            <a:pPr>
              <a:spcAft>
                <a:spcPts val="1000"/>
              </a:spcAft>
              <a:defRPr sz="2000">
                <a:solidFill>
                  <a:srgbClr val="1F2937"/>
                </a:solidFill>
              </a:defRPr>
            </a:pPr>
            <a:r>
              <a:t>Deploy: GitHub → Streamlit Cloud + Railway Docker</a:t>
            </a:r>
          </a:p>
          <a:p>
            <a:pPr>
              <a:spcAft>
                <a:spcPts val="1000"/>
              </a:spcAft>
              <a:defRPr sz="2000">
                <a:solidFill>
                  <a:srgbClr val="1F2937"/>
                </a:solidFill>
              </a:defRPr>
            </a:pPr>
            <a:r>
              <a:t>Integrations: SMTP/Resend, Open-Meteo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374151"/>
                </a:solidFill>
              </a:defRPr>
            </a:pPr>
            <a:r>
              <a:t>Plant Doctor AI · FYP 2025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234440"/>
            <a:ext cx="12191695" cy="562356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6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The Farmer's Journey (Demo Flow)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50876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1F2937"/>
                </a:solidFill>
              </a:defRPr>
            </a:pPr>
            <a:r>
              <a:t>1. Register / Login (auto-verify if email not configured)</a:t>
            </a:r>
          </a:p>
          <a:p>
            <a:pPr>
              <a:spcAft>
                <a:spcPts val="1000"/>
              </a:spcAft>
              <a:defRPr sz="2000">
                <a:solidFill>
                  <a:srgbClr val="1F2937"/>
                </a:solidFill>
              </a:defRPr>
            </a:pPr>
            <a:r>
              <a:t>2. Select crop page or auto-detect from photo</a:t>
            </a:r>
          </a:p>
          <a:p>
            <a:pPr>
              <a:spcAft>
                <a:spcPts val="1000"/>
              </a:spcAft>
              <a:defRPr sz="2000">
                <a:solidFill>
                  <a:srgbClr val="1F2937"/>
                </a:solidFill>
              </a:defRPr>
            </a:pPr>
            <a:r>
              <a:t>3. Upload sick leaf image → XGBoost predicts disease</a:t>
            </a:r>
          </a:p>
          <a:p>
            <a:pPr>
              <a:spcAft>
                <a:spcPts val="1000"/>
              </a:spcAft>
              <a:defRPr sz="2000">
                <a:solidFill>
                  <a:srgbClr val="1F2937"/>
                </a:solidFill>
              </a:defRPr>
            </a:pPr>
            <a:r>
              <a:t>4. Gemini generates Roman Urdu treatment steps</a:t>
            </a:r>
          </a:p>
          <a:p>
            <a:pPr>
              <a:spcAft>
                <a:spcPts val="1000"/>
              </a:spcAft>
              <a:defRPr sz="2000">
                <a:solidFill>
                  <a:srgbClr val="1F2937"/>
                </a:solidFill>
              </a:defRPr>
            </a:pPr>
            <a:r>
              <a:t>5. Scan saved to cloud history + dashboard charts</a:t>
            </a:r>
          </a:p>
          <a:p>
            <a:pPr>
              <a:spcAft>
                <a:spcPts val="1000"/>
              </a:spcAft>
              <a:defRPr sz="2000">
                <a:solidFill>
                  <a:srgbClr val="1F2937"/>
                </a:solidFill>
              </a:defRPr>
            </a:pPr>
            <a:r>
              <a:t>6. Optional: Expert chat for second opinion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374151"/>
                </a:solidFill>
              </a:defRPr>
            </a:pPr>
            <a:r>
              <a:t>Plant Doctor AI · FYP 2025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234440"/>
            <a:ext cx="12191695" cy="562356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6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Admin Dashboard &amp; Analytics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50876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1F2937"/>
                </a:solidFill>
              </a:defRPr>
            </a:pPr>
            <a:r>
              <a:t>Admin-only panel (role-based JWT)</a:t>
            </a:r>
          </a:p>
          <a:p>
            <a:pPr>
              <a:spcAft>
                <a:spcPts val="1000"/>
              </a:spcAft>
              <a:defRPr sz="2000">
                <a:solidFill>
                  <a:srgbClr val="1F2937"/>
                </a:solidFill>
              </a:defRPr>
            </a:pPr>
            <a:r>
              <a:t>Platform stats: total users, scans, diseases detected</a:t>
            </a:r>
          </a:p>
          <a:p>
            <a:pPr>
              <a:spcAft>
                <a:spcPts val="1000"/>
              </a:spcAft>
              <a:defRPr sz="2000">
                <a:solidFill>
                  <a:srgbClr val="1F2937"/>
                </a:solidFill>
              </a:defRPr>
            </a:pPr>
            <a:r>
              <a:t>Plotly visualizations — crop breakdown, disease trends</a:t>
            </a:r>
          </a:p>
          <a:p>
            <a:pPr>
              <a:spcAft>
                <a:spcPts val="1000"/>
              </a:spcAft>
              <a:defRPr sz="2000">
                <a:solidFill>
                  <a:srgbClr val="1F2937"/>
                </a:solidFill>
              </a:defRPr>
            </a:pPr>
            <a:r>
              <a:t>View all users &amp; recent scans across Pakistan</a:t>
            </a:r>
          </a:p>
          <a:p>
            <a:pPr>
              <a:spcAft>
                <a:spcPts val="1000"/>
              </a:spcAft>
              <a:defRPr sz="2000">
                <a:solidFill>
                  <a:srgbClr val="1F2937"/>
                </a:solidFill>
              </a:defRPr>
            </a:pPr>
            <a:r>
              <a:t>Promote users to Expert role for consultations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374151"/>
                </a:solidFill>
              </a:defRPr>
            </a:pPr>
            <a:r>
              <a:t>Plant Doctor AI · FYP 2025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234440"/>
            <a:ext cx="12191695" cy="562356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6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Conclusion &amp; Future Scope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50876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1F2937"/>
                </a:solidFill>
              </a:defRPr>
            </a:pPr>
            <a:r>
              <a:t>Delivered end-to-end AI crop doctor for Pakistani farmers</a:t>
            </a:r>
          </a:p>
          <a:p>
            <a:pPr>
              <a:spcAft>
                <a:spcPts val="1000"/>
              </a:spcAft>
              <a:defRPr sz="2000">
                <a:solidFill>
                  <a:srgbClr val="1F2937"/>
                </a:solidFill>
              </a:defRPr>
            </a:pPr>
            <a:r>
              <a:t>4 crops, 18 diseases, cloud auth, history, admin, expert chat</a:t>
            </a:r>
          </a:p>
          <a:p>
            <a:pPr>
              <a:spcAft>
                <a:spcPts val="1000"/>
              </a:spcAft>
              <a:defRPr sz="2000">
                <a:solidFill>
                  <a:srgbClr val="1F2937"/>
                </a:solidFill>
              </a:defRPr>
            </a:pPr>
            <a:r>
              <a:t>Future: Wheat, Rice, Cotton models</a:t>
            </a:r>
          </a:p>
          <a:p>
            <a:pPr>
              <a:spcAft>
                <a:spcPts val="1000"/>
              </a:spcAft>
              <a:defRPr sz="2000">
                <a:solidFill>
                  <a:srgbClr val="1F2937"/>
                </a:solidFill>
              </a:defRPr>
            </a:pPr>
            <a:r>
              <a:t>Mobile app / PWA offline with Edge AI on phone</a:t>
            </a:r>
          </a:p>
          <a:p>
            <a:pPr>
              <a:spcAft>
                <a:spcPts val="1000"/>
              </a:spcAft>
              <a:defRPr sz="2000">
                <a:solidFill>
                  <a:srgbClr val="1F2937"/>
                </a:solidFill>
              </a:defRPr>
            </a:pPr>
            <a:r>
              <a:t>Regional disease heatmaps &amp; Urdu full UI toggle</a:t>
            </a:r>
          </a:p>
          <a:p>
            <a:pPr>
              <a:spcAft>
                <a:spcPts val="1000"/>
              </a:spcAft>
              <a:defRPr sz="2000">
                <a:solidFill>
                  <a:srgbClr val="1F2937"/>
                </a:solidFill>
              </a:defRPr>
            </a:pPr>
            <a:r>
              <a:t>Drone imagery for large-field monitoring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374151"/>
                </a:solidFill>
              </a:defRPr>
            </a:pPr>
            <a:r>
              <a:t>Plant Doctor AI · FYP 2025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194560"/>
            <a:ext cx="1051560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200" b="1">
                <a:solidFill>
                  <a:srgbClr val="FFFFFF"/>
                </a:solidFill>
              </a:defRPr>
            </a:pPr>
            <a:r>
              <a:t>Thank You!</a:t>
            </a:r>
          </a:p>
          <a:p>
            <a:pPr algn="ctr">
              <a:defRPr sz="2000">
                <a:solidFill>
                  <a:srgbClr val="A7F3D0"/>
                </a:solidFill>
              </a:defRPr>
            </a:pPr>
            <a:r>
              <a:t>Empowering agriculture with the speed of AI.</a:t>
            </a:r>
          </a:p>
          <a:p>
            <a:pPr algn="ctr">
              <a:defRPr sz="2000">
                <a:solidFill>
                  <a:srgbClr val="A7F3D0"/>
                </a:solidFill>
              </a:defRPr>
            </a:pPr>
          </a:p>
          <a:p>
            <a:pPr algn="ctr">
              <a:defRPr sz="2000">
                <a:solidFill>
                  <a:srgbClr val="A7F3D0"/>
                </a:solidFill>
              </a:defRPr>
            </a:pPr>
            <a:r>
              <a:t>🌐 plantdoctorapp.streamlit.app</a:t>
            </a:r>
          </a:p>
          <a:p>
            <a:pPr algn="ctr">
              <a:defRPr sz="2000">
                <a:solidFill>
                  <a:srgbClr val="A7F3D0"/>
                </a:solidFill>
              </a:defRPr>
            </a:pPr>
            <a:r>
              <a:t>Questions welcome from the panel.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